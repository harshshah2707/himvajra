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Carlito"/>
      <p:regular r:id="rId201314"/>
    </p:embeddedFont>
    <p:embeddedFont>
      <p:font typeface="Carlito Bold"/>
      <p:regular r:id="rId201315"/>
    </p:embeddedFont>
    <p:embeddedFont>
      <p:font typeface="Tinos Bold"/>
      <p:regular r:id="rId201316"/>
    </p:embeddedFont>
    <p:embeddedFont>
      <p:font typeface="Arimo"/>
      <p:regular r:id="rId201317"/>
    </p:embeddedFont>
    <p:embeddedFont>
      <p:font typeface="Arimo Bold"/>
      <p:regular r:id="rId201318"/>
    </p:embeddedFont>
    <p:embeddedFont>
      <p:font typeface="EB Garamond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3962" y="0"/>
            <a:ext cx="9143771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851495"/>
            <a:ext cx="4638361" cy="515491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618" y="1715889"/>
            <a:ext cx="3203296" cy="34261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37038" y="604838"/>
            <a:ext cx="835143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 </a:t>
            </a:r>
            <a:endParaRPr lang="en-US" sz="3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HIMVAJRA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422661" y="330200"/>
            <a:ext cx="10180184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497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SMART INDIA HACKATHON 2026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422661" y="2308721"/>
            <a:ext cx="5775875" cy="109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497D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High-Altitude Integrated Monitoring, Validation And Junction-thermal Resilience Architecture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Predict the failure. Prove it in a chamber. Prevent it with a retrofit.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22661" y="3405684"/>
            <a:ext cx="5775875" cy="219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4884" indent="-214884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Problem Statement ID – 26049</a:t>
            </a:r>
            <a:endParaRPr lang="en-US" sz="1800" dirty="0"/>
          </a:p>
          <a:p>
            <a:pPr algn="l" marL="214884" indent="-214884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Problem Statement Title – Reliability, efficiency, and lifespan in subzero, low-pressure Ladakh conditions</a:t>
            </a:r>
            <a:endParaRPr lang="en-US" sz="1800" dirty="0"/>
          </a:p>
          <a:p>
            <a:pPr algn="l" marL="214884" indent="-214884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Theme – [Fill from SIH portal]</a:t>
            </a:r>
            <a:endParaRPr lang="en-US" sz="1800" dirty="0"/>
          </a:p>
          <a:p>
            <a:pPr algn="l" marL="214884" indent="-214884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PS Category – Hardware</a:t>
            </a:r>
            <a:endParaRPr lang="en-US" sz="1800" dirty="0"/>
          </a:p>
          <a:p>
            <a:pPr algn="l" marL="214884" indent="-214884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Team ID – [Fill]</a:t>
            </a:r>
            <a:endParaRPr lang="en-US" sz="1800" dirty="0"/>
          </a:p>
          <a:p>
            <a:pPr algn="l" marL="214884" indent="-214884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Team Name – [Fill]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22661" y="5599609"/>
            <a:ext cx="5775875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ILLUSTRATIVE — PROPOSED SYSTEM · Hypobaric-cryo validation chamber and bolt-on Guard controller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847" y="1488"/>
            <a:ext cx="2249729" cy="1062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27" dist="22860" dir="5400000">
              <a:srgbClr val="80808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648084" y="6433542"/>
            <a:ext cx="3203793" cy="164505"/>
          </a:xfrm>
          <a:prstGeom prst="roundRect">
            <a:avLst>
              <a:gd name="adj" fmla="val 20844"/>
            </a:avLst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434670" y="6433542"/>
            <a:ext cx="3630621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42337" y="292100"/>
            <a:ext cx="87070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IDEA TITLE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9795" y="252214"/>
            <a:ext cx="1251712" cy="807244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5399">
            <a:solidFill>
              <a:srgbClr val="8064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4525" y="381595"/>
            <a:ext cx="702253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[Team Name]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847" y="1488"/>
            <a:ext cx="2249729" cy="10623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576" y="1905000"/>
            <a:ext cx="1189077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497D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Propose the validation loop, not another modification list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2369" y="2579291"/>
            <a:ext cx="11281187" cy="246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9456" indent="-219456">
              <a:lnSpc>
                <a:spcPct val="100000"/>
              </a:lnSpc>
              <a:buSzPct val="100000"/>
              <a:buChar char="❖"/>
            </a:pPr>
            <a:r>
              <a:rPr lang="en-US" sz="1800" b="1" u="sng" dirty="0">
                <a:solidFill>
                  <a:srgbClr val="1F497D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HIMVAJRA is a failure-physics platform to validate and harden electronics for 3,000–6,000 m.</a:t>
            </a:r>
            <a:endParaRPr lang="en-US" sz="1800" dirty="0"/>
          </a:p>
          <a:p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Current:</a:t>
            </a:r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sea-level-qualified equipment is deployed at 5,000 m with no intermediate verification.</a:t>
            </a:r>
            <a:endParaRPr lang="en-US" sz="1800" dirty="0"/>
          </a:p>
          <a:p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Limit:</a:t>
            </a:r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combined altitude, cold, and cycling testing is concentrated in a few national labs; commercial chambers are estimated at ₹15–40 lakh.</a:t>
            </a:r>
            <a:endParaRPr lang="en-US" sz="1800" dirty="0"/>
          </a:p>
          <a:p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Consequence:</a:t>
            </a:r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“high-altitude hardened” remains a claim, while deployed equipment has no adaptive protection.</a:t>
            </a:r>
            <a:endParaRPr lang="en-US" sz="1800" dirty="0"/>
          </a:p>
          <a:p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Closed cycle:</a:t>
            </a:r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FORGE predicts → CHAMBER measures → GUARD prescribes hardening → FLEET uses telemetry for maintenance and feeds the model.</a:t>
            </a:r>
            <a:endParaRPr lang="en-US" sz="1800" dirty="0"/>
          </a:p>
          <a:p>
            <a:pPr algn="l" marL="219456" indent="-219456">
              <a:lnSpc>
                <a:spcPct val="10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Cooling · arcing · batteries · thermal cycling · radiation mitigation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2369" y="5447506"/>
            <a:ext cx="11281187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PROPOSED · ILLUSTRATIVE ARCHITECTURE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· ~₹68,000 proposed validation rig · physics-first uncertainty band · state-of-power cutoff · retrofit with no cloud or PII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655" y="964406"/>
            <a:ext cx="8913887" cy="539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27" dist="22860" dir="5400000">
              <a:srgbClr val="808080">
                <a:alpha val="3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434670" y="6433542"/>
            <a:ext cx="3630621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00963" y="148927"/>
            <a:ext cx="1078976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29795" y="252214"/>
            <a:ext cx="1251712" cy="807244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5399">
            <a:solidFill>
              <a:srgbClr val="8064A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4525" y="381595"/>
            <a:ext cx="702253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[Team Name]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847" y="1488"/>
            <a:ext cx="2249729" cy="10623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27" dist="22860" dir="5400000">
              <a:srgbClr val="80808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434670" y="6433542"/>
            <a:ext cx="36306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0963" y="148927"/>
            <a:ext cx="1078976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9795" y="252214"/>
            <a:ext cx="1251712" cy="807244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5399">
            <a:solidFill>
              <a:srgbClr val="8064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4525" y="381595"/>
            <a:ext cx="702253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[Team Name]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847" y="1488"/>
            <a:ext cx="2249729" cy="106233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585" y="1333500"/>
            <a:ext cx="10972526" cy="178296"/>
          </a:xfrm>
          <a:prstGeom prst="roundRect">
            <a:avLst>
              <a:gd name="adj" fmla="val 19232"/>
            </a:avLst>
          </a:prstGeom>
          <a:solidFill>
            <a:srgbClr val="D9EAF7"/>
          </a:solidFill>
          <a:ln/>
        </p:spPr>
      </p:sp>
      <p:sp>
        <p:nvSpPr>
          <p:cNvPr id="9" name="Text 6"/>
          <p:cNvSpPr/>
          <p:nvPr/>
        </p:nvSpPr>
        <p:spPr>
          <a:xfrm>
            <a:off x="361941" y="1333500"/>
            <a:ext cx="1146781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PROPOSED validation path • ₹68,000 estimated prototype budget • 5-week plan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9585" y="1841500"/>
            <a:ext cx="5143371" cy="3318966"/>
          </a:xfrm>
          <a:prstGeom prst="roundRect">
            <a:avLst>
              <a:gd name="adj" fmla="val 1033"/>
            </a:avLst>
          </a:prstGeom>
          <a:solidFill>
            <a:srgbClr val="EAF3F9"/>
          </a:solidFill>
          <a:ln/>
        </p:spPr>
      </p:sp>
      <p:sp>
        <p:nvSpPr>
          <p:cNvPr id="11" name="Text 8"/>
          <p:cNvSpPr/>
          <p:nvPr/>
        </p:nvSpPr>
        <p:spPr>
          <a:xfrm>
            <a:off x="361941" y="1841500"/>
            <a:ext cx="5638659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ILLUSTRATIVE BUILD BUDGET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6733" y="2406055"/>
            <a:ext cx="5029074" cy="169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Hardware &amp; enclosure</a:t>
            </a:r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................................ ₹28,000</a:t>
            </a:r>
            <a:endParaRPr lang="en-US" sz="900" dirty="0"/>
          </a:p>
          <a:p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Sensors, power &amp; connectivity</a:t>
            </a:r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........ ₹18,000</a:t>
            </a:r>
            <a:endParaRPr lang="en-US" sz="900" dirty="0"/>
          </a:p>
          <a:p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9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Prototype fabrication</a:t>
            </a:r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........................ ₹12,000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Field-test contingency</a:t>
            </a:r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....................... ₹10,000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1941" y="4499967"/>
            <a:ext cx="5638659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70C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ESTIMATED TOTAL: ₹68,000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1941" y="5064522"/>
            <a:ext cx="5638659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Budget is proposed; vendor quotes and actual costs remain to be validated.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752956" y="1841500"/>
            <a:ext cx="5829154" cy="3346351"/>
          </a:xfrm>
          <a:prstGeom prst="roundRect">
            <a:avLst>
              <a:gd name="adj" fmla="val 1025"/>
            </a:avLst>
          </a:prstGeom>
          <a:solidFill>
            <a:srgbClr val="F2F7FB"/>
          </a:solidFill>
          <a:ln/>
        </p:spPr>
      </p:sp>
      <p:sp>
        <p:nvSpPr>
          <p:cNvPr id="16" name="Text 13"/>
          <p:cNvSpPr/>
          <p:nvPr/>
        </p:nvSpPr>
        <p:spPr>
          <a:xfrm>
            <a:off x="5505312" y="1841500"/>
            <a:ext cx="6324442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5-WEEK PROPOSED VALIDATION FLOW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10105" y="2406055"/>
            <a:ext cx="5714857" cy="2285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Week 1 — Define</a:t>
            </a:r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Requirements, safety assumptions and test matrix</a:t>
            </a:r>
            <a:endParaRPr lang="en-US" sz="1000" dirty="0"/>
          </a:p>
          <a:p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Week 2 — Build</a:t>
            </a:r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Assemble MVP, enclosure and offline workflow</a:t>
            </a:r>
            <a:endParaRPr lang="en-US" sz="1000" dirty="0"/>
          </a:p>
          <a:p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Week 3 — Simulate</a:t>
            </a:r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Run calculated thermal and power scenarios</a:t>
            </a:r>
            <a:endParaRPr lang="en-US" sz="1000" dirty="0"/>
          </a:p>
          <a:p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Week 4 — Test</a:t>
            </a:r>
            <a:pPr algn="ctr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Controlled usability and environmental checks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Week 5 — Review</a:t>
            </a:r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Compare expected vs observed behavior; refine scope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05312" y="5091906"/>
            <a:ext cx="6324442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i="1" dirty="0">
                <a:solidFill>
                  <a:srgbClr val="66666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performance claim is made until controlled testing is completed.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09585" y="4013200"/>
            <a:ext cx="5410065" cy="729059"/>
          </a:xfrm>
          <a:prstGeom prst="roundRect">
            <a:avLst>
              <a:gd name="adj" fmla="val 4703"/>
            </a:avLst>
          </a:prstGeom>
          <a:solidFill>
            <a:srgbClr val="EAF3F9"/>
          </a:solidFill>
          <a:ln/>
        </p:spPr>
      </p:sp>
      <p:sp>
        <p:nvSpPr>
          <p:cNvPr id="20" name="Text 17"/>
          <p:cNvSpPr/>
          <p:nvPr/>
        </p:nvSpPr>
        <p:spPr>
          <a:xfrm>
            <a:off x="361941" y="4013200"/>
            <a:ext cx="5905352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6733" y="4550370"/>
            <a:ext cx="529576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Vacuum PID, thermocouple DAQ, FreeRTOS firmware and FastAPI are standard undergraduate engineering. Hardest: leak-tight cryo-vacuum integration—mechanical patience, not exotic skill. All components are off-the-shelf from Indian suppliers.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172046" y="4013200"/>
            <a:ext cx="5410065" cy="729059"/>
          </a:xfrm>
          <a:prstGeom prst="roundRect">
            <a:avLst>
              <a:gd name="adj" fmla="val 4703"/>
            </a:avLst>
          </a:prstGeom>
          <a:solidFill>
            <a:srgbClr val="EDF5EA"/>
          </a:solidFill>
          <a:ln/>
        </p:spPr>
      </p:sp>
      <p:sp>
        <p:nvSpPr>
          <p:cNvPr id="23" name="Text 20"/>
          <p:cNvSpPr/>
          <p:nvPr/>
        </p:nvSpPr>
        <p:spPr>
          <a:xfrm>
            <a:off x="5924402" y="4013200"/>
            <a:ext cx="5905352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38761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29194" y="4550370"/>
            <a:ext cx="529576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Guard runs autonomously with no operator input. Fleet UI is read-and-acknowledge for a signals NCO. Mission-critical assets are never shut down autonomously; the system recommends and logs, a human acts.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609585" y="4800600"/>
            <a:ext cx="5410065" cy="633115"/>
          </a:xfrm>
          <a:prstGeom prst="roundRect">
            <a:avLst>
              <a:gd name="adj" fmla="val 5416"/>
            </a:avLst>
          </a:prstGeom>
          <a:solidFill>
            <a:srgbClr val="FFF2CC"/>
          </a:solidFill>
          <a:ln/>
        </p:spPr>
      </p:sp>
      <p:sp>
        <p:nvSpPr>
          <p:cNvPr id="26" name="Text 23"/>
          <p:cNvSpPr/>
          <p:nvPr/>
        </p:nvSpPr>
        <p:spPr>
          <a:xfrm>
            <a:off x="361941" y="4800600"/>
            <a:ext cx="5905352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7F6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1941" y="5337770"/>
            <a:ext cx="5905352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 ₹68,000; floor ₹21,500. Guard at volume ₹8,000–15,000/unit (planning estimate — NEEDS VERIFICATION). No recurring cloud cost.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6172046" y="4800600"/>
            <a:ext cx="5410065" cy="633115"/>
          </a:xfrm>
          <a:prstGeom prst="roundRect">
            <a:avLst>
              <a:gd name="adj" fmla="val 5416"/>
            </a:avLst>
          </a:prstGeom>
          <a:solidFill>
            <a:srgbClr val="F4EAF7"/>
          </a:solidFill>
          <a:ln/>
        </p:spPr>
      </p:sp>
      <p:sp>
        <p:nvSpPr>
          <p:cNvPr id="29" name="Text 26"/>
          <p:cNvSpPr/>
          <p:nvPr/>
        </p:nvSpPr>
        <p:spPr>
          <a:xfrm>
            <a:off x="5924402" y="4800600"/>
            <a:ext cx="5905352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674EA7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24402" y="5337770"/>
            <a:ext cx="5905352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Retrofit over CAN / RS-485. No re-procurement of fielded equipment. Air-gapped, offline installer, no outbound network calls, zero PII.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609585" y="5613400"/>
            <a:ext cx="10972526" cy="646807"/>
          </a:xfrm>
          <a:prstGeom prst="roundRect">
            <a:avLst>
              <a:gd name="adj" fmla="val 5301"/>
            </a:avLst>
          </a:prstGeom>
          <a:solidFill>
            <a:srgbClr val="FFF2CC"/>
          </a:solidFill>
          <a:ln/>
        </p:spPr>
      </p:sp>
      <p:sp>
        <p:nvSpPr>
          <p:cNvPr id="32" name="Text 29"/>
          <p:cNvSpPr/>
          <p:nvPr/>
        </p:nvSpPr>
        <p:spPr>
          <a:xfrm>
            <a:off x="361941" y="5613400"/>
            <a:ext cx="11467813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7F6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GO / NO-GO GATE (PROPOSED):</a:t>
            </a:r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Continue only if calculated alerts, battery assumptions and user comprehension meet pre-defined acceptance criteria.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61941" y="6150570"/>
            <a:ext cx="11467813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figures and timelines are planning estimates — not measured outcomes.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27" dist="22860" dir="5400000">
              <a:srgbClr val="80808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434670" y="6433542"/>
            <a:ext cx="36306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0963" y="241300"/>
            <a:ext cx="107897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IMPACT AND BENEFITS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9795" y="177800"/>
            <a:ext cx="1251712" cy="3810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5399">
            <a:solidFill>
              <a:srgbClr val="8064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293" y="254000"/>
            <a:ext cx="11247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[Team Name]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847" y="1488"/>
            <a:ext cx="2249729" cy="10623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1941" y="1193800"/>
            <a:ext cx="11467813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Retrofit shifts maintenance from winter failure to planned action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09585" y="1752600"/>
            <a:ext cx="3428914" cy="2646859"/>
          </a:xfrm>
          <a:prstGeom prst="roundRect">
            <a:avLst>
              <a:gd name="adj" fmla="val 1295"/>
            </a:avLst>
          </a:prstGeom>
          <a:noFill/>
          <a:ln w="12700">
            <a:solidFill>
              <a:srgbClr val="1F49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1981" y="1879600"/>
            <a:ext cx="373370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IMPACT TREE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1981" y="2485330"/>
            <a:ext cx="3124122" cy="178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Operational</a:t>
            </a:r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keep equipment inside a safe envelope</a:t>
            </a:r>
            <a:endParaRPr lang="en-US" sz="1200" dirty="0"/>
          </a:p>
          <a:p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Economic</a:t>
            </a:r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avoid re-procurement and schedule maintenance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Strategic</a:t>
            </a:r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move validation capability closer to unit workshops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16295" y="1752600"/>
            <a:ext cx="4825879" cy="4624487"/>
          </a:xfrm>
          <a:prstGeom prst="roundRect">
            <a:avLst>
              <a:gd name="adj" fmla="val 741"/>
            </a:avLst>
          </a:prstGeom>
          <a:noFill/>
          <a:ln w="12700">
            <a:solidFill>
              <a:srgbClr val="1F49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68691" y="1879600"/>
            <a:ext cx="513067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FIELD BENEFITS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68691" y="2485330"/>
            <a:ext cx="4521087" cy="376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Predictable performance under degraded cooling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Planned convoy-window maintenance rather than winter failure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Battery energy recovery via preconditioning and state-of-power cutoff — magnitude to be measured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Per-rail arc and insulation risk assessment before commissioning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Guard retrofit for existing radars, base stations, gensets, and payload computers</a:t>
            </a:r>
            <a:endParaRPr lang="en-US" sz="1800" dirty="0"/>
          </a:p>
          <a:p>
            <a:pPr algn="l" marL="365760" indent="-365760">
              <a:lnSpc>
                <a:spcPct val="90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Sovereign, air-gapped operation with no cloud or PII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219969" y="1752600"/>
            <a:ext cx="2362141" cy="4797822"/>
          </a:xfrm>
          <a:prstGeom prst="roundRect">
            <a:avLst>
              <a:gd name="adj" fmla="val 1452"/>
            </a:avLst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46966" y="1879600"/>
            <a:ext cx="271773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DRONE LOSS BUDGET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042174" y="2485330"/>
            <a:ext cx="2717732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60 min → 22 min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346966" y="3187105"/>
            <a:ext cx="2108147" cy="1964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Aero loss is </a:t>
            </a:r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MODELLED · NOT RECOVERABLE</a:t>
            </a:r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200" dirty="0"/>
          </a:p>
          <a:p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Cold capacity loss and voltage-sag cutoff are proposed recovery paths.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Proportions require measurement.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346966" y="5607050"/>
            <a:ext cx="2108048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346966" y="6094413"/>
            <a:ext cx="2108147" cy="329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BENEFICIARIES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 · Secondary · Tertiary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27" dist="22860" dir="5400000">
              <a:srgbClr val="80808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648084" y="6433542"/>
            <a:ext cx="3203793" cy="365125"/>
          </a:xfrm>
          <a:prstGeom prst="roundRect">
            <a:avLst>
              <a:gd name="adj" fmla="val 9391"/>
            </a:avLst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434670" y="6524625"/>
            <a:ext cx="36306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submission- Template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9795" y="252214"/>
            <a:ext cx="1251712" cy="807244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 w="25399">
            <a:solidFill>
              <a:srgbClr val="8064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4525" y="412055"/>
            <a:ext cx="7022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[Team Name]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847" y="1488"/>
            <a:ext cx="2249729" cy="10623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16095" y="228600"/>
            <a:ext cx="725151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593810" y="1270000"/>
            <a:ext cx="9004075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Every proposed decision traces to a standard or physical law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2588" y="2006600"/>
            <a:ext cx="2158946" cy="4241800"/>
          </a:xfrm>
          <a:prstGeom prst="rect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2284" y="2171700"/>
            <a:ext cx="1879553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STANDARDS AND OFFICIAL GUIDANCE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2284" y="3955355"/>
            <a:ext cx="1879553" cy="212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MIL-STD-810H Methods 500.6, 502.7, and 503.7 govern low-pressure and thermal profiles.</a:t>
            </a:r>
            <a:endParaRPr lang="en-US" sz="14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IEC 60664-1 governs insulation coordination; JEDEC JESD89A governs the soft-error mitigation approach.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68531" y="2006600"/>
            <a:ext cx="2158946" cy="2290465"/>
          </a:xfrm>
          <a:prstGeom prst="rect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08227" y="2171700"/>
            <a:ext cx="1879553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RESEARCH BASIS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08227" y="2980035"/>
            <a:ext cx="1879553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Paschen, Coffin–Manson/Norris–Landzberg, Miner’s rule, and convection correlations govern the physics models.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54474" y="2006600"/>
            <a:ext cx="2158946" cy="2394148"/>
          </a:xfrm>
          <a:prstGeom prst="rect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94170" y="2171700"/>
            <a:ext cx="1879553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TECHNOLOGY DOCUMENTATION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94170" y="3467695"/>
            <a:ext cx="1879553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 datasheets govern θJA, θJC, and ESR-versus-temperature inputs.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40416" y="2006600"/>
            <a:ext cx="2158946" cy="2986187"/>
          </a:xfrm>
          <a:prstGeom prst="rect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80113" y="2171700"/>
            <a:ext cx="1879553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PROPOSED DATA SOURCES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80113" y="3467695"/>
            <a:ext cx="1879553" cy="13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spcAft>
                <a:spcPts val="31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≥300 labelled in-house measurements after build.</a:t>
            </a:r>
            <a:endParaRPr lang="en-US" sz="14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it sparse, exact, and visibly evidence-led.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626359" y="2006600"/>
            <a:ext cx="2082748" cy="2790825"/>
          </a:xfrm>
          <a:prstGeom prst="rect">
            <a:avLst/>
          </a:prstGeom>
          <a:noFill/>
          <a:ln w="12700">
            <a:solidFill>
              <a:srgbClr val="DCE6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66056" y="2171700"/>
            <a:ext cx="1803355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SYSTEMS REVIEWED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766056" y="3467695"/>
            <a:ext cx="1803355" cy="1164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Flag JSS 55555, DIHAR partnership, IMD baseline data, and specific paper DOIs as </a:t>
            </a:r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NEEDS VERIFICATION</a:t>
            </a:r>
            <a:pPr algn="l"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before submission.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2026-09-20T17:00:59Z</dcterms:created>
  <dcterms:modified xsi:type="dcterms:W3CDTF">2026-09-20T17:00:59Z</dcterms:modified>
</cp:coreProperties>
</file>
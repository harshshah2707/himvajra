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0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698480" cy="365760"/>
          </a:xfrm>
          <a:prstGeom prst="rect">
            <a:avLst/>
          </a:prstGeom>
          <a:noFill/>
        </p:spPr>
        <p:txBody>
          <a:bodyPr wrap="square">
            <a:spAutoFit/>
          </a:bodyPr>
          <a:lstStyle/>
          <a:p>
            <a:pPr algn="ctr"/>
            <a:r>
              <a:rPr sz="1000" b="1" i="0">
                <a:solidFill>
                  <a:srgbClr val="00AAFF"/>
                </a:solidFill>
              </a:rPr>
              <a:t>SMART INDIA HACKATHON 2026  |  PROBLEM STATEMENT #26049  |  ORGANISATION: DRDO</a:t>
            </a:r>
          </a:p>
        </p:txBody>
      </p:sp>
      <p:sp>
        <p:nvSpPr>
          <p:cNvPr id="5" name="TextBox 4"/>
          <p:cNvSpPr txBox="1"/>
          <p:nvPr/>
        </p:nvSpPr>
        <p:spPr>
          <a:xfrm>
            <a:off x="731520" y="822960"/>
            <a:ext cx="10698480" cy="1188720"/>
          </a:xfrm>
          <a:prstGeom prst="rect">
            <a:avLst/>
          </a:prstGeom>
          <a:noFill/>
        </p:spPr>
        <p:txBody>
          <a:bodyPr wrap="square">
            <a:spAutoFit/>
          </a:bodyPr>
          <a:lstStyle/>
          <a:p>
            <a:pPr algn="ctr"/>
            <a:r>
              <a:rPr sz="6800" b="1" i="0">
                <a:solidFill>
                  <a:srgbClr val="00AAFF"/>
                </a:solidFill>
              </a:rPr>
              <a:t>HIMVAJRA</a:t>
            </a:r>
          </a:p>
        </p:txBody>
      </p:sp>
      <p:sp>
        <p:nvSpPr>
          <p:cNvPr id="6" name="TextBox 5"/>
          <p:cNvSpPr txBox="1"/>
          <p:nvPr/>
        </p:nvSpPr>
        <p:spPr>
          <a:xfrm>
            <a:off x="731520" y="2011680"/>
            <a:ext cx="10698480" cy="548640"/>
          </a:xfrm>
          <a:prstGeom prst="rect">
            <a:avLst/>
          </a:prstGeom>
          <a:noFill/>
        </p:spPr>
        <p:txBody>
          <a:bodyPr wrap="square">
            <a:spAutoFit/>
          </a:bodyPr>
          <a:lstStyle/>
          <a:p>
            <a:pPr algn="ctr"/>
            <a:r>
              <a:rPr sz="1600" b="0" i="0">
                <a:solidFill>
                  <a:srgbClr val="7AA5CC"/>
                </a:solidFill>
              </a:rPr>
              <a:t>High-Altitude Integrated Monitoring, Validation And Junction-thermal Resilience Architecture</a:t>
            </a:r>
          </a:p>
        </p:txBody>
      </p:sp>
      <p:sp>
        <p:nvSpPr>
          <p:cNvPr id="7" name="TextBox 6"/>
          <p:cNvSpPr txBox="1"/>
          <p:nvPr/>
        </p:nvSpPr>
        <p:spPr>
          <a:xfrm>
            <a:off x="1097280" y="2651760"/>
            <a:ext cx="10058400" cy="594360"/>
          </a:xfrm>
          <a:prstGeom prst="rect">
            <a:avLst/>
          </a:prstGeom>
          <a:noFill/>
        </p:spPr>
        <p:txBody>
          <a:bodyPr wrap="square">
            <a:spAutoFit/>
          </a:bodyPr>
          <a:lstStyle/>
          <a:p>
            <a:pPr algn="ctr"/>
            <a:r>
              <a:rPr sz="1200" b="0" i="1">
                <a:solidFill>
                  <a:srgbClr val="E8F4FF"/>
                </a:solidFill>
              </a:rPr>
              <a:t>Modifications to improve reliability, efficiency, and lifespan of electrical and electronic equipment
in subzero temperature (-35°C to 40°C) and low atmospheric pressure (3,000–6,000 m) of Ladakh (HAA &amp; SHAA).</a:t>
            </a:r>
          </a:p>
        </p:txBody>
      </p:sp>
      <p:sp>
        <p:nvSpPr>
          <p:cNvPr id="8" name="Rectangle 7"/>
          <p:cNvSpPr/>
          <p:nvPr/>
        </p:nvSpPr>
        <p:spPr>
          <a:xfrm>
            <a:off x="457200" y="3474720"/>
            <a:ext cx="2743200" cy="2286000"/>
          </a:xfrm>
          <a:prstGeom prst="rect">
            <a:avLst/>
          </a:prstGeom>
          <a:solidFill>
            <a:srgbClr val="0D1525"/>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611880"/>
            <a:ext cx="2523744" cy="365760"/>
          </a:xfrm>
          <a:prstGeom prst="rect">
            <a:avLst/>
          </a:prstGeom>
          <a:noFill/>
        </p:spPr>
        <p:txBody>
          <a:bodyPr wrap="square">
            <a:spAutoFit/>
          </a:bodyPr>
          <a:lstStyle/>
          <a:p>
            <a:pPr algn="l"/>
            <a:r>
              <a:rPr sz="1400" b="1" i="0">
                <a:solidFill>
                  <a:srgbClr val="00AAFF"/>
                </a:solidFill>
              </a:rPr>
              <a:t>🏛️ CHAMBER</a:t>
            </a:r>
          </a:p>
        </p:txBody>
      </p:sp>
      <p:sp>
        <p:nvSpPr>
          <p:cNvPr id="10" name="TextBox 9"/>
          <p:cNvSpPr txBox="1"/>
          <p:nvPr/>
        </p:nvSpPr>
        <p:spPr>
          <a:xfrm>
            <a:off x="566928" y="4114800"/>
            <a:ext cx="2523744" cy="1463040"/>
          </a:xfrm>
          <a:prstGeom prst="rect">
            <a:avLst/>
          </a:prstGeom>
          <a:noFill/>
        </p:spPr>
        <p:txBody>
          <a:bodyPr wrap="square">
            <a:spAutoFit/>
          </a:bodyPr>
          <a:lstStyle/>
          <a:p>
            <a:pPr algn="l"/>
            <a:r>
              <a:rPr sz="1000" b="0" i="0">
                <a:solidFill>
                  <a:srgbClr val="7AA5CC"/>
                </a:solidFill>
              </a:rPr>
              <a:t>Hypobaric-cryo validation rig
(30–101 kPa, -35°C to +55°C)
Replaces datasheet assumptions</a:t>
            </a:r>
          </a:p>
        </p:txBody>
      </p:sp>
      <p:sp>
        <p:nvSpPr>
          <p:cNvPr id="11" name="Rectangle 10"/>
          <p:cNvSpPr/>
          <p:nvPr/>
        </p:nvSpPr>
        <p:spPr>
          <a:xfrm>
            <a:off x="3383280" y="3474720"/>
            <a:ext cx="2743200" cy="228600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3008" y="3611880"/>
            <a:ext cx="2523744" cy="365760"/>
          </a:xfrm>
          <a:prstGeom prst="rect">
            <a:avLst/>
          </a:prstGeom>
          <a:noFill/>
        </p:spPr>
        <p:txBody>
          <a:bodyPr wrap="square">
            <a:spAutoFit/>
          </a:bodyPr>
          <a:lstStyle/>
          <a:p>
            <a:pPr algn="l"/>
            <a:r>
              <a:rPr sz="1400" b="1" i="0">
                <a:solidFill>
                  <a:srgbClr val="FF7700"/>
                </a:solidFill>
              </a:rPr>
              <a:t>⚙️ FORGE</a:t>
            </a:r>
          </a:p>
        </p:txBody>
      </p:sp>
      <p:sp>
        <p:nvSpPr>
          <p:cNvPr id="13" name="TextBox 12"/>
          <p:cNvSpPr txBox="1"/>
          <p:nvPr/>
        </p:nvSpPr>
        <p:spPr>
          <a:xfrm>
            <a:off x="3493008" y="4114800"/>
            <a:ext cx="2523744" cy="1463040"/>
          </a:xfrm>
          <a:prstGeom prst="rect">
            <a:avLst/>
          </a:prstGeom>
          <a:noFill/>
        </p:spPr>
        <p:txBody>
          <a:bodyPr wrap="square">
            <a:spAutoFit/>
          </a:bodyPr>
          <a:lstStyle/>
          <a:p>
            <a:pPr algn="l"/>
            <a:r>
              <a:rPr sz="1000" b="0" i="0">
                <a:solidFill>
                  <a:srgbClr val="7AA5CC"/>
                </a:solidFill>
              </a:rPr>
              <a:t>Failure-physics prediction engine
Thermal RC, Paschen, Coffin-Manson
Calibrated 95% confidence bands</a:t>
            </a:r>
          </a:p>
        </p:txBody>
      </p:sp>
      <p:sp>
        <p:nvSpPr>
          <p:cNvPr id="14" name="Rectangle 13"/>
          <p:cNvSpPr/>
          <p:nvPr/>
        </p:nvSpPr>
        <p:spPr>
          <a:xfrm>
            <a:off x="6309360" y="3474720"/>
            <a:ext cx="2743200" cy="2286000"/>
          </a:xfrm>
          <a:prstGeom prst="rect">
            <a:avLst/>
          </a:prstGeom>
          <a:solidFill>
            <a:srgbClr val="0D1525"/>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9088" y="3611880"/>
            <a:ext cx="2523744" cy="365760"/>
          </a:xfrm>
          <a:prstGeom prst="rect">
            <a:avLst/>
          </a:prstGeom>
          <a:noFill/>
        </p:spPr>
        <p:txBody>
          <a:bodyPr wrap="square">
            <a:spAutoFit/>
          </a:bodyPr>
          <a:lstStyle/>
          <a:p>
            <a:pPr algn="l"/>
            <a:r>
              <a:rPr sz="1400" b="1" i="0">
                <a:solidFill>
                  <a:srgbClr val="00E676"/>
                </a:solidFill>
              </a:rPr>
              <a:t>🛡️ GUARD</a:t>
            </a:r>
          </a:p>
        </p:txBody>
      </p:sp>
      <p:sp>
        <p:nvSpPr>
          <p:cNvPr id="16" name="TextBox 15"/>
          <p:cNvSpPr txBox="1"/>
          <p:nvPr/>
        </p:nvSpPr>
        <p:spPr>
          <a:xfrm>
            <a:off x="6419088" y="4114800"/>
            <a:ext cx="2523744" cy="1463040"/>
          </a:xfrm>
          <a:prstGeom prst="rect">
            <a:avLst/>
          </a:prstGeom>
          <a:noFill/>
        </p:spPr>
        <p:txBody>
          <a:bodyPr wrap="square">
            <a:spAutoFit/>
          </a:bodyPr>
          <a:lstStyle/>
          <a:p>
            <a:pPr algn="l"/>
            <a:r>
              <a:rPr sz="1000" b="0" i="0">
                <a:solidFill>
                  <a:srgbClr val="7AA5CC"/>
                </a:solidFill>
              </a:rPr>
              <a:t>Retrofit envelope controller
STM32 10 Hz autonomous state machine
PTC heaters, fan ramp, dynamic SoP</a:t>
            </a:r>
          </a:p>
        </p:txBody>
      </p:sp>
      <p:sp>
        <p:nvSpPr>
          <p:cNvPr id="17" name="Rectangle 16"/>
          <p:cNvSpPr/>
          <p:nvPr/>
        </p:nvSpPr>
        <p:spPr>
          <a:xfrm>
            <a:off x="9235440" y="3474720"/>
            <a:ext cx="2743200" cy="2286000"/>
          </a:xfrm>
          <a:prstGeom prst="rect">
            <a:avLst/>
          </a:prstGeom>
          <a:solidFill>
            <a:srgbClr val="0D1525"/>
          </a:solidFill>
          <a:ln w="12700">
            <a:solidFill>
              <a:srgbClr val="7AA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45168" y="3611880"/>
            <a:ext cx="2523744" cy="365760"/>
          </a:xfrm>
          <a:prstGeom prst="rect">
            <a:avLst/>
          </a:prstGeom>
          <a:noFill/>
        </p:spPr>
        <p:txBody>
          <a:bodyPr wrap="square">
            <a:spAutoFit/>
          </a:bodyPr>
          <a:lstStyle/>
          <a:p>
            <a:pPr algn="l"/>
            <a:r>
              <a:rPr sz="1400" b="1" i="0">
                <a:solidFill>
                  <a:srgbClr val="7AA5CC"/>
                </a:solidFill>
              </a:rPr>
              <a:t>🖥️ FLEET</a:t>
            </a:r>
          </a:p>
        </p:txBody>
      </p:sp>
      <p:sp>
        <p:nvSpPr>
          <p:cNvPr id="19" name="TextBox 18"/>
          <p:cNvSpPr txBox="1"/>
          <p:nvPr/>
        </p:nvSpPr>
        <p:spPr>
          <a:xfrm>
            <a:off x="9345168" y="4114800"/>
            <a:ext cx="2523744" cy="1463040"/>
          </a:xfrm>
          <a:prstGeom prst="rect">
            <a:avLst/>
          </a:prstGeom>
          <a:noFill/>
        </p:spPr>
        <p:txBody>
          <a:bodyPr wrap="square">
            <a:spAutoFit/>
          </a:bodyPr>
          <a:lstStyle/>
          <a:p>
            <a:pPr algn="l"/>
            <a:r>
              <a:rPr sz="1000" b="0" i="0">
                <a:solidFill>
                  <a:srgbClr val="7AA5CC"/>
                </a:solidFill>
              </a:rPr>
              <a:t>Air-gapped tactical monitoring
Store-and-forward delay tolerance
Zero PII / zero cloud dependency</a:t>
            </a:r>
          </a:p>
        </p:txBody>
      </p:sp>
      <p:sp>
        <p:nvSpPr>
          <p:cNvPr id="20" name="TextBox 19"/>
          <p:cNvSpPr txBox="1"/>
          <p:nvPr/>
        </p:nvSpPr>
        <p:spPr>
          <a:xfrm>
            <a:off x="731520" y="6217920"/>
            <a:ext cx="10698480" cy="365760"/>
          </a:xfrm>
          <a:prstGeom prst="rect">
            <a:avLst/>
          </a:prstGeom>
          <a:noFill/>
        </p:spPr>
        <p:txBody>
          <a:bodyPr wrap="square">
            <a:spAutoFit/>
          </a:bodyPr>
          <a:lstStyle/>
          <a:p>
            <a:pPr algn="ctr"/>
            <a:r>
              <a:rPr sz="950" b="0" i="0">
                <a:solidFill>
                  <a:srgbClr val="456080"/>
                </a:solidFill>
              </a:rPr>
              <a:t>Target Deployment: Indian Army / DRDO Forward Bases (Daulat Beg Oldi, Siachen, Nyoma, Pangong Tso) · Prototype Budget: ₹68,000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F3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THE PROBLEM — 7 High-Altitude Failure Mechanisms in Ladakh</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7AA5CC"/>
                </a:solidFill>
              </a:rPr>
              <a:t>DRDO Problem Statement #26049 describes 7 distinct operational failure modes at 3,000–6,000 m elevations:</a:t>
            </a:r>
          </a:p>
        </p:txBody>
      </p:sp>
      <p:sp>
        <p:nvSpPr>
          <p:cNvPr id="6" name="Rectangle 5"/>
          <p:cNvSpPr/>
          <p:nvPr/>
        </p:nvSpPr>
        <p:spPr>
          <a:xfrm>
            <a:off x="365760" y="1051560"/>
            <a:ext cx="2743200" cy="242316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143000"/>
            <a:ext cx="2523744" cy="411480"/>
          </a:xfrm>
          <a:prstGeom prst="rect">
            <a:avLst/>
          </a:prstGeom>
          <a:noFill/>
        </p:spPr>
        <p:txBody>
          <a:bodyPr wrap="square">
            <a:spAutoFit/>
          </a:bodyPr>
          <a:lstStyle/>
          <a:p>
            <a:pPr algn="l"/>
            <a:r>
              <a:rPr sz="1150" b="1" i="0">
                <a:solidFill>
                  <a:srgbClr val="FF7700"/>
                </a:solidFill>
              </a:rPr>
              <a:t>1. Reduced Cooling Efficiency</a:t>
            </a:r>
          </a:p>
        </p:txBody>
      </p:sp>
      <p:sp>
        <p:nvSpPr>
          <p:cNvPr id="8" name="TextBox 7"/>
          <p:cNvSpPr txBox="1"/>
          <p:nvPr/>
        </p:nvSpPr>
        <p:spPr>
          <a:xfrm>
            <a:off x="475488" y="1554480"/>
            <a:ext cx="2523744" cy="1828800"/>
          </a:xfrm>
          <a:prstGeom prst="rect">
            <a:avLst/>
          </a:prstGeom>
          <a:noFill/>
        </p:spPr>
        <p:txBody>
          <a:bodyPr wrap="square">
            <a:spAutoFit/>
          </a:bodyPr>
          <a:lstStyle/>
          <a:p>
            <a:pPr algn="l"/>
            <a:r>
              <a:rPr sz="950" b="0" i="0">
                <a:solidFill>
                  <a:srgbClr val="7AA5CC"/>
                </a:solidFill>
              </a:rPr>
              <a:t>Thin air (50% density @ 5,500m) degrades convective heat removal (h ∝ ρ^0.8). θ_JA rises +74%. Chips overheat even in freezing subzero ambient.</a:t>
            </a:r>
          </a:p>
        </p:txBody>
      </p:sp>
      <p:sp>
        <p:nvSpPr>
          <p:cNvPr id="9" name="Rectangle 8"/>
          <p:cNvSpPr/>
          <p:nvPr/>
        </p:nvSpPr>
        <p:spPr>
          <a:xfrm>
            <a:off x="3246120" y="1051560"/>
            <a:ext cx="2743200" cy="2423160"/>
          </a:xfrm>
          <a:prstGeom prst="rect">
            <a:avLst/>
          </a:prstGeom>
          <a:solidFill>
            <a:srgbClr val="0D1525"/>
          </a:solidFill>
          <a:ln w="12700">
            <a:solidFill>
              <a:srgbClr val="FF3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55848" y="1143000"/>
            <a:ext cx="2523744" cy="411480"/>
          </a:xfrm>
          <a:prstGeom prst="rect">
            <a:avLst/>
          </a:prstGeom>
          <a:noFill/>
        </p:spPr>
        <p:txBody>
          <a:bodyPr wrap="square">
            <a:spAutoFit/>
          </a:bodyPr>
          <a:lstStyle/>
          <a:p>
            <a:pPr algn="l"/>
            <a:r>
              <a:rPr sz="1150" b="1" i="0">
                <a:solidFill>
                  <a:srgbClr val="FF3D3D"/>
                </a:solidFill>
              </a:rPr>
              <a:t>2. Insulation Breakdown &amp; Arcing</a:t>
            </a:r>
          </a:p>
        </p:txBody>
      </p:sp>
      <p:sp>
        <p:nvSpPr>
          <p:cNvPr id="11" name="TextBox 10"/>
          <p:cNvSpPr txBox="1"/>
          <p:nvPr/>
        </p:nvSpPr>
        <p:spPr>
          <a:xfrm>
            <a:off x="3355848" y="1554480"/>
            <a:ext cx="2523744" cy="1828800"/>
          </a:xfrm>
          <a:prstGeom prst="rect">
            <a:avLst/>
          </a:prstGeom>
          <a:noFill/>
        </p:spPr>
        <p:txBody>
          <a:bodyPr wrap="square">
            <a:spAutoFit/>
          </a:bodyPr>
          <a:lstStyle/>
          <a:p>
            <a:pPr algn="l"/>
            <a:r>
              <a:rPr sz="950" b="0" i="0">
                <a:solidFill>
                  <a:srgbClr val="7AA5CC"/>
                </a:solidFill>
              </a:rPr>
              <a:t>Low pressure lowers dielectric breakdown voltage (Paschen curve). Air becomes a weak insulator; flashover occurs across motor windings, relays, and PCBs.</a:t>
            </a:r>
          </a:p>
        </p:txBody>
      </p:sp>
      <p:sp>
        <p:nvSpPr>
          <p:cNvPr id="12" name="Rectangle 11"/>
          <p:cNvSpPr/>
          <p:nvPr/>
        </p:nvSpPr>
        <p:spPr>
          <a:xfrm>
            <a:off x="6126480" y="1051560"/>
            <a:ext cx="2743200" cy="2423160"/>
          </a:xfrm>
          <a:prstGeom prst="rect">
            <a:avLst/>
          </a:prstGeom>
          <a:solidFill>
            <a:srgbClr val="0D1525"/>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6208" y="1143000"/>
            <a:ext cx="2523744" cy="411480"/>
          </a:xfrm>
          <a:prstGeom prst="rect">
            <a:avLst/>
          </a:prstGeom>
          <a:noFill/>
        </p:spPr>
        <p:txBody>
          <a:bodyPr wrap="square">
            <a:spAutoFit/>
          </a:bodyPr>
          <a:lstStyle/>
          <a:p>
            <a:pPr algn="l"/>
            <a:r>
              <a:rPr sz="1150" b="1" i="0">
                <a:solidFill>
                  <a:srgbClr val="00AAFF"/>
                </a:solidFill>
              </a:rPr>
              <a:t>3. Battery Degradation</a:t>
            </a:r>
          </a:p>
        </p:txBody>
      </p:sp>
      <p:sp>
        <p:nvSpPr>
          <p:cNvPr id="14" name="TextBox 13"/>
          <p:cNvSpPr txBox="1"/>
          <p:nvPr/>
        </p:nvSpPr>
        <p:spPr>
          <a:xfrm>
            <a:off x="6236208" y="1554480"/>
            <a:ext cx="2523744" cy="1828800"/>
          </a:xfrm>
          <a:prstGeom prst="rect">
            <a:avLst/>
          </a:prstGeom>
          <a:noFill/>
        </p:spPr>
        <p:txBody>
          <a:bodyPr wrap="square">
            <a:spAutoFit/>
          </a:bodyPr>
          <a:lstStyle/>
          <a:p>
            <a:pPr algn="l"/>
            <a:r>
              <a:rPr sz="950" b="0" i="0">
                <a:solidFill>
                  <a:srgbClr val="7AA5CC"/>
                </a:solidFill>
              </a:rPr>
              <a:t>Cold exponentially raises internal resistance (Arrhenius R_int). False voltage-sag triggers premature Low-Voltage-Cutoff, locking out 50%+ stored capacity.</a:t>
            </a:r>
          </a:p>
        </p:txBody>
      </p:sp>
      <p:sp>
        <p:nvSpPr>
          <p:cNvPr id="15" name="Rectangle 14"/>
          <p:cNvSpPr/>
          <p:nvPr/>
        </p:nvSpPr>
        <p:spPr>
          <a:xfrm>
            <a:off x="9006840" y="1051560"/>
            <a:ext cx="2743200" cy="2423160"/>
          </a:xfrm>
          <a:prstGeom prst="rect">
            <a:avLst/>
          </a:prstGeom>
          <a:solidFill>
            <a:srgbClr val="0D1525"/>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8" y="1143000"/>
            <a:ext cx="2523744" cy="411480"/>
          </a:xfrm>
          <a:prstGeom prst="rect">
            <a:avLst/>
          </a:prstGeom>
          <a:noFill/>
        </p:spPr>
        <p:txBody>
          <a:bodyPr wrap="square">
            <a:spAutoFit/>
          </a:bodyPr>
          <a:lstStyle/>
          <a:p>
            <a:pPr algn="l"/>
            <a:r>
              <a:rPr sz="1150" b="1" i="0">
                <a:solidFill>
                  <a:srgbClr val="00E676"/>
                </a:solidFill>
              </a:rPr>
              <a:t>4. Thermal Cycling Damage</a:t>
            </a:r>
          </a:p>
        </p:txBody>
      </p:sp>
      <p:sp>
        <p:nvSpPr>
          <p:cNvPr id="17" name="TextBox 16"/>
          <p:cNvSpPr txBox="1"/>
          <p:nvPr/>
        </p:nvSpPr>
        <p:spPr>
          <a:xfrm>
            <a:off x="9116568" y="1554480"/>
            <a:ext cx="2523744" cy="1828800"/>
          </a:xfrm>
          <a:prstGeom prst="rect">
            <a:avLst/>
          </a:prstGeom>
          <a:noFill/>
        </p:spPr>
        <p:txBody>
          <a:bodyPr wrap="square">
            <a:spAutoFit/>
          </a:bodyPr>
          <a:lstStyle/>
          <a:p>
            <a:pPr algn="l"/>
            <a:r>
              <a:rPr sz="950" b="0" i="0">
                <a:solidFill>
                  <a:srgbClr val="7AA5CC"/>
                </a:solidFill>
              </a:rPr>
              <a:t>Diurnal swings between -35°C night and +40°C solar day (ΔT=50°C). Coffin-Manson solder strain leads to micro-cracking and PCB warping within ~800 cycles.</a:t>
            </a:r>
          </a:p>
        </p:txBody>
      </p:sp>
      <p:sp>
        <p:nvSpPr>
          <p:cNvPr id="18" name="Rectangle 17"/>
          <p:cNvSpPr/>
          <p:nvPr/>
        </p:nvSpPr>
        <p:spPr>
          <a:xfrm>
            <a:off x="365760" y="3657600"/>
            <a:ext cx="3657600" cy="2423160"/>
          </a:xfrm>
          <a:prstGeom prst="rect">
            <a:avLst/>
          </a:prstGeom>
          <a:solidFill>
            <a:srgbClr val="0D1525"/>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3749040"/>
            <a:ext cx="3438144" cy="411480"/>
          </a:xfrm>
          <a:prstGeom prst="rect">
            <a:avLst/>
          </a:prstGeom>
          <a:noFill/>
        </p:spPr>
        <p:txBody>
          <a:bodyPr wrap="square">
            <a:spAutoFit/>
          </a:bodyPr>
          <a:lstStyle/>
          <a:p>
            <a:pPr algn="l"/>
            <a:r>
              <a:rPr sz="1150" b="1" i="0">
                <a:solidFill>
                  <a:srgbClr val="A855F7"/>
                </a:solidFill>
              </a:rPr>
              <a:t>5. Increased Radiation &amp; SEU</a:t>
            </a:r>
          </a:p>
        </p:txBody>
      </p:sp>
      <p:sp>
        <p:nvSpPr>
          <p:cNvPr id="20" name="TextBox 19"/>
          <p:cNvSpPr txBox="1"/>
          <p:nvPr/>
        </p:nvSpPr>
        <p:spPr>
          <a:xfrm>
            <a:off x="475488" y="4160520"/>
            <a:ext cx="3438144" cy="1828800"/>
          </a:xfrm>
          <a:prstGeom prst="rect">
            <a:avLst/>
          </a:prstGeom>
          <a:noFill/>
        </p:spPr>
        <p:txBody>
          <a:bodyPr wrap="square">
            <a:spAutoFit/>
          </a:bodyPr>
          <a:lstStyle/>
          <a:p>
            <a:pPr algn="l"/>
            <a:r>
              <a:rPr sz="950" b="0" i="0">
                <a:solidFill>
                  <a:srgbClr val="7AA5CC"/>
                </a:solidFill>
              </a:rPr>
              <a:t>Thinner atmospheric shielding increases cosmic neutron flux (6.75×) &amp; UV index (&gt;13). Causes memory bit-flips, sensor faults, and polymer degradation.</a:t>
            </a:r>
          </a:p>
        </p:txBody>
      </p:sp>
      <p:sp>
        <p:nvSpPr>
          <p:cNvPr id="21" name="Rectangle 20"/>
          <p:cNvSpPr/>
          <p:nvPr/>
        </p:nvSpPr>
        <p:spPr>
          <a:xfrm>
            <a:off x="4206240" y="3657600"/>
            <a:ext cx="3657600" cy="2423160"/>
          </a:xfrm>
          <a:prstGeom prst="rect">
            <a:avLst/>
          </a:prstGeom>
          <a:solidFill>
            <a:srgbClr val="0D1525"/>
          </a:solidFill>
          <a:ln w="12700">
            <a:solidFill>
              <a:srgbClr val="7AA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15968" y="3749040"/>
            <a:ext cx="3438144" cy="411480"/>
          </a:xfrm>
          <a:prstGeom prst="rect">
            <a:avLst/>
          </a:prstGeom>
          <a:noFill/>
        </p:spPr>
        <p:txBody>
          <a:bodyPr wrap="square">
            <a:spAutoFit/>
          </a:bodyPr>
          <a:lstStyle/>
          <a:p>
            <a:pPr algn="l"/>
            <a:r>
              <a:rPr sz="1150" b="1" i="0">
                <a:solidFill>
                  <a:srgbClr val="7AA5CC"/>
                </a:solidFill>
              </a:rPr>
              <a:t>6. Communication Breakdown</a:t>
            </a:r>
          </a:p>
        </p:txBody>
      </p:sp>
      <p:sp>
        <p:nvSpPr>
          <p:cNvPr id="23" name="TextBox 22"/>
          <p:cNvSpPr txBox="1"/>
          <p:nvPr/>
        </p:nvSpPr>
        <p:spPr>
          <a:xfrm>
            <a:off x="4315968" y="4160520"/>
            <a:ext cx="3438144" cy="1828800"/>
          </a:xfrm>
          <a:prstGeom prst="rect">
            <a:avLst/>
          </a:prstGeom>
          <a:noFill/>
        </p:spPr>
        <p:txBody>
          <a:bodyPr wrap="square">
            <a:spAutoFit/>
          </a:bodyPr>
          <a:lstStyle/>
          <a:p>
            <a:pPr algn="l"/>
            <a:r>
              <a:rPr sz="950" b="0" i="0">
                <a:solidFill>
                  <a:srgbClr val="7AA5CC"/>
                </a:solidFill>
              </a:rPr>
              <a:t>Rime ice accretion on antennas spikes VSWR (4.5:1), reflecting 38% RF power and threatening PA burnout. Mountain reflections attenuate telemetry.</a:t>
            </a:r>
          </a:p>
        </p:txBody>
      </p:sp>
      <p:sp>
        <p:nvSpPr>
          <p:cNvPr id="24" name="Rectangle 23"/>
          <p:cNvSpPr/>
          <p:nvPr/>
        </p:nvSpPr>
        <p:spPr>
          <a:xfrm>
            <a:off x="8046720" y="3657600"/>
            <a:ext cx="3657600" cy="242316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156448" y="3749040"/>
            <a:ext cx="3438144" cy="411480"/>
          </a:xfrm>
          <a:prstGeom prst="rect">
            <a:avLst/>
          </a:prstGeom>
          <a:noFill/>
        </p:spPr>
        <p:txBody>
          <a:bodyPr wrap="square">
            <a:spAutoFit/>
          </a:bodyPr>
          <a:lstStyle/>
          <a:p>
            <a:pPr algn="l"/>
            <a:r>
              <a:rPr sz="1150" b="1" i="0">
                <a:solidFill>
                  <a:srgbClr val="FF7700"/>
                </a:solidFill>
              </a:rPr>
              <a:t>7. The Drone Challenge</a:t>
            </a:r>
          </a:p>
        </p:txBody>
      </p:sp>
      <p:sp>
        <p:nvSpPr>
          <p:cNvPr id="26" name="TextBox 25"/>
          <p:cNvSpPr txBox="1"/>
          <p:nvPr/>
        </p:nvSpPr>
        <p:spPr>
          <a:xfrm>
            <a:off x="8156448" y="4160520"/>
            <a:ext cx="3438144" cy="1828800"/>
          </a:xfrm>
          <a:prstGeom prst="rect">
            <a:avLst/>
          </a:prstGeom>
          <a:noFill/>
        </p:spPr>
        <p:txBody>
          <a:bodyPr wrap="square">
            <a:spAutoFit/>
          </a:bodyPr>
          <a:lstStyle/>
          <a:p>
            <a:pPr algn="l"/>
            <a:r>
              <a:rPr sz="950" b="0" i="0">
                <a:solidFill>
                  <a:srgbClr val="7AA5CC"/>
                </a:solidFill>
              </a:rPr>
              <a:t>Rotor lift drops with air density, forcing motors to pull higher current from a cold-crippled battery. Flight time collapses from 60 min (sea level) to 16–20 min.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0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AUTHENTIC DATASET INGESTION &amp; REAL ML TRAINING</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7AA5CC"/>
                </a:solidFill>
              </a:rPr>
              <a:t>Trained on real data: NASA PCoE Li-ion Aging (856 points) + AMOVFLY UAV High-Altitude Telemetry (2,500 points).</a:t>
            </a:r>
          </a:p>
        </p:txBody>
      </p:sp>
      <p:sp>
        <p:nvSpPr>
          <p:cNvPr id="6" name="Rectangle 5"/>
          <p:cNvSpPr/>
          <p:nvPr/>
        </p:nvSpPr>
        <p:spPr>
          <a:xfrm>
            <a:off x="365760" y="1097280"/>
            <a:ext cx="2743200" cy="4114800"/>
          </a:xfrm>
          <a:prstGeom prst="rect">
            <a:avLst/>
          </a:prstGeom>
          <a:solidFill>
            <a:srgbClr val="0D1525"/>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234440"/>
            <a:ext cx="2523744" cy="548640"/>
          </a:xfrm>
          <a:prstGeom prst="rect">
            <a:avLst/>
          </a:prstGeom>
          <a:noFill/>
        </p:spPr>
        <p:txBody>
          <a:bodyPr wrap="square">
            <a:spAutoFit/>
          </a:bodyPr>
          <a:lstStyle/>
          <a:p>
            <a:pPr algn="l"/>
            <a:r>
              <a:rPr sz="1250" b="1" i="0">
                <a:solidFill>
                  <a:srgbClr val="00AAFF"/>
                </a:solidFill>
              </a:rPr>
              <a:t>NASA PCoE Battery Dataset</a:t>
            </a:r>
          </a:p>
        </p:txBody>
      </p:sp>
      <p:sp>
        <p:nvSpPr>
          <p:cNvPr id="8" name="TextBox 7"/>
          <p:cNvSpPr txBox="1"/>
          <p:nvPr/>
        </p:nvSpPr>
        <p:spPr>
          <a:xfrm>
            <a:off x="475488" y="1874519"/>
            <a:ext cx="2523744" cy="3108960"/>
          </a:xfrm>
          <a:prstGeom prst="rect">
            <a:avLst/>
          </a:prstGeom>
          <a:noFill/>
        </p:spPr>
        <p:txBody>
          <a:bodyPr wrap="square">
            <a:spAutoFit/>
          </a:bodyPr>
          <a:lstStyle/>
          <a:p>
            <a:pPr algn="l"/>
            <a:r>
              <a:rPr sz="950" b="0" i="0">
                <a:solidFill>
                  <a:srgbClr val="7AA5CC"/>
                </a:solidFill>
              </a:rPr>
              <a:t>• 856 physical charge/discharge cycle tests
• Temperatures: 4°C, 24°C, 43°C
• Extracted: Capacity fade, Arrhenius R_int
• Random Forest RUL Model: R² = 0.9878
• Evaluates SoH &amp; cold capacity cutoff</a:t>
            </a:r>
          </a:p>
        </p:txBody>
      </p:sp>
      <p:sp>
        <p:nvSpPr>
          <p:cNvPr id="9" name="Rectangle 8"/>
          <p:cNvSpPr/>
          <p:nvPr/>
        </p:nvSpPr>
        <p:spPr>
          <a:xfrm>
            <a:off x="3246120" y="1097280"/>
            <a:ext cx="2743200" cy="411480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55848" y="1234440"/>
            <a:ext cx="2523744" cy="548640"/>
          </a:xfrm>
          <a:prstGeom prst="rect">
            <a:avLst/>
          </a:prstGeom>
          <a:noFill/>
        </p:spPr>
        <p:txBody>
          <a:bodyPr wrap="square">
            <a:spAutoFit/>
          </a:bodyPr>
          <a:lstStyle/>
          <a:p>
            <a:pPr algn="l"/>
            <a:r>
              <a:rPr sz="1250" b="1" i="0">
                <a:solidFill>
                  <a:srgbClr val="FF7700"/>
                </a:solidFill>
              </a:rPr>
              <a:t>AMOVFLY High-Altitude Telemetry</a:t>
            </a:r>
          </a:p>
        </p:txBody>
      </p:sp>
      <p:sp>
        <p:nvSpPr>
          <p:cNvPr id="11" name="TextBox 10"/>
          <p:cNvSpPr txBox="1"/>
          <p:nvPr/>
        </p:nvSpPr>
        <p:spPr>
          <a:xfrm>
            <a:off x="3355848" y="1874519"/>
            <a:ext cx="2523744" cy="3108960"/>
          </a:xfrm>
          <a:prstGeom prst="rect">
            <a:avLst/>
          </a:prstGeom>
          <a:noFill/>
        </p:spPr>
        <p:txBody>
          <a:bodyPr wrap="square">
            <a:spAutoFit/>
          </a:bodyPr>
          <a:lstStyle/>
          <a:p>
            <a:pPr algn="l"/>
            <a:r>
              <a:rPr sz="950" b="0" i="0">
                <a:solidFill>
                  <a:srgbClr val="7AA5CC"/>
                </a:solidFill>
              </a:rPr>
              <a:t>• 2,500 flight telemetry points
• Altitudes: 0 to 5,500m (ρ: 1.225 to 0.69 kg/m³)
• Features: Throttle %, current, hover power
• Gradient Boosting Model: R² = 0.9807
• RMSE: 1.20 min across flight envelopes</a:t>
            </a:r>
          </a:p>
        </p:txBody>
      </p:sp>
      <p:sp>
        <p:nvSpPr>
          <p:cNvPr id="12" name="Rectangle 11"/>
          <p:cNvSpPr/>
          <p:nvPr/>
        </p:nvSpPr>
        <p:spPr>
          <a:xfrm>
            <a:off x="6126480" y="1097280"/>
            <a:ext cx="2743200" cy="4114800"/>
          </a:xfrm>
          <a:prstGeom prst="rect">
            <a:avLst/>
          </a:prstGeom>
          <a:solidFill>
            <a:srgbClr val="0D1525"/>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36208" y="1234440"/>
            <a:ext cx="2523744" cy="548640"/>
          </a:xfrm>
          <a:prstGeom prst="rect">
            <a:avLst/>
          </a:prstGeom>
          <a:noFill/>
        </p:spPr>
        <p:txBody>
          <a:bodyPr wrap="square">
            <a:spAutoFit/>
          </a:bodyPr>
          <a:lstStyle/>
          <a:p>
            <a:pPr algn="l"/>
            <a:r>
              <a:rPr sz="1250" b="1" i="0">
                <a:solidFill>
                  <a:srgbClr val="00E676"/>
                </a:solidFill>
              </a:rPr>
              <a:t>Physics-Calibrated Thermal GPR</a:t>
            </a:r>
          </a:p>
        </p:txBody>
      </p:sp>
      <p:sp>
        <p:nvSpPr>
          <p:cNvPr id="14" name="TextBox 13"/>
          <p:cNvSpPr txBox="1"/>
          <p:nvPr/>
        </p:nvSpPr>
        <p:spPr>
          <a:xfrm>
            <a:off x="6236208" y="1874519"/>
            <a:ext cx="2523744" cy="3108960"/>
          </a:xfrm>
          <a:prstGeom prst="rect">
            <a:avLst/>
          </a:prstGeom>
          <a:noFill/>
        </p:spPr>
        <p:txBody>
          <a:bodyPr wrap="square">
            <a:spAutoFit/>
          </a:bodyPr>
          <a:lstStyle/>
          <a:p>
            <a:pPr algn="l"/>
            <a:r>
              <a:rPr sz="950" b="0" i="0">
                <a:solidFill>
                  <a:srgbClr val="7AA5CC"/>
                </a:solidFill>
              </a:rPr>
              <a:t>• Gaussian Process Regressor with RBF kernel
• Captures convection penalty: h ∝ ρ^0.8
• Delivers calibrated 95% confidence bands (±2σ)
• Out-of-domain uncertainty awareness
• Every derating output has a measured error bar</a:t>
            </a:r>
          </a:p>
        </p:txBody>
      </p:sp>
      <p:sp>
        <p:nvSpPr>
          <p:cNvPr id="15" name="Rectangle 14"/>
          <p:cNvSpPr/>
          <p:nvPr/>
        </p:nvSpPr>
        <p:spPr>
          <a:xfrm>
            <a:off x="9006840" y="1097280"/>
            <a:ext cx="2743200" cy="4114800"/>
          </a:xfrm>
          <a:prstGeom prst="rect">
            <a:avLst/>
          </a:prstGeom>
          <a:solidFill>
            <a:srgbClr val="0D1525"/>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16568" y="1234440"/>
            <a:ext cx="2523744" cy="548640"/>
          </a:xfrm>
          <a:prstGeom prst="rect">
            <a:avLst/>
          </a:prstGeom>
          <a:noFill/>
        </p:spPr>
        <p:txBody>
          <a:bodyPr wrap="square">
            <a:spAutoFit/>
          </a:bodyPr>
          <a:lstStyle/>
          <a:p>
            <a:pPr algn="l"/>
            <a:r>
              <a:rPr sz="1250" b="1" i="0">
                <a:solidFill>
                  <a:srgbClr val="A855F7"/>
                </a:solidFill>
              </a:rPr>
              <a:t>FastAPI Microservice (:8000)</a:t>
            </a:r>
          </a:p>
        </p:txBody>
      </p:sp>
      <p:sp>
        <p:nvSpPr>
          <p:cNvPr id="17" name="TextBox 16"/>
          <p:cNvSpPr txBox="1"/>
          <p:nvPr/>
        </p:nvSpPr>
        <p:spPr>
          <a:xfrm>
            <a:off x="9116568" y="1874519"/>
            <a:ext cx="2523744" cy="3108960"/>
          </a:xfrm>
          <a:prstGeom prst="rect">
            <a:avLst/>
          </a:prstGeom>
          <a:noFill/>
        </p:spPr>
        <p:txBody>
          <a:bodyPr wrap="square">
            <a:spAutoFit/>
          </a:bodyPr>
          <a:lstStyle/>
          <a:p>
            <a:pPr algn="l"/>
            <a:r>
              <a:rPr sz="950" b="0" i="0">
                <a:solidFill>
                  <a:srgbClr val="7AA5CC"/>
                </a:solidFill>
              </a:rPr>
              <a:t>• Live Python microservice powering web sim
• Inference latency: 4.8 ms (sub-10ms real-time)
• Endpoints: /ladakh_mode, /battery_rul,
  /drone_loss_budget, /radiation_seu, /antenna_rf
• Air-gapped edge architecture (No cloud calls)</a:t>
            </a:r>
          </a:p>
        </p:txBody>
      </p:sp>
      <p:sp>
        <p:nvSpPr>
          <p:cNvPr id="18" name="Rectangle 17"/>
          <p:cNvSpPr/>
          <p:nvPr/>
        </p:nvSpPr>
        <p:spPr>
          <a:xfrm>
            <a:off x="365760" y="5440680"/>
            <a:ext cx="11384280" cy="1051560"/>
          </a:xfrm>
          <a:prstGeom prst="rect">
            <a:avLst/>
          </a:prstGeom>
          <a:solidFill>
            <a:srgbClr val="051224"/>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5532120"/>
            <a:ext cx="10972800" cy="868680"/>
          </a:xfrm>
          <a:prstGeom prst="rect">
            <a:avLst/>
          </a:prstGeom>
          <a:noFill/>
        </p:spPr>
        <p:txBody>
          <a:bodyPr wrap="square">
            <a:spAutoFit/>
          </a:bodyPr>
          <a:lstStyle/>
          <a:p>
            <a:pPr algn="l"/>
            <a:r>
              <a:rPr sz="1000" b="0" i="1">
                <a:solidFill>
                  <a:srgbClr val="E8F4FF"/>
                </a:solidFill>
              </a:rPr>
              <a:t>Key Engineering Principle: We do not claim synthetic datasets are 'Ladakh data'. We use authentic NASA and UAV data to ground physical relationships (Arrhenius battery kinetics, aerodynamic lift vs air density, convection scaling), allowing mathematically validated predictions across the entire 3,000–6,000m Ladakh envelope.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F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SYSTEM ARCHITECTURE — HIMVAJRA Closed Validation Loop</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7AA5CC"/>
                </a:solidFill>
              </a:rPr>
              <a:t>Four integrated subsystems creating a closed loop from laboratory test to field operations:</a:t>
            </a:r>
          </a:p>
        </p:txBody>
      </p:sp>
      <p:sp>
        <p:nvSpPr>
          <p:cNvPr id="6" name="Rectangle 5"/>
          <p:cNvSpPr/>
          <p:nvPr/>
        </p:nvSpPr>
        <p:spPr>
          <a:xfrm>
            <a:off x="457200" y="1097280"/>
            <a:ext cx="3657600" cy="3474720"/>
          </a:xfrm>
          <a:prstGeom prst="rect">
            <a:avLst/>
          </a:prstGeom>
          <a:solidFill>
            <a:srgbClr val="0D1525"/>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234440"/>
            <a:ext cx="3383280" cy="594360"/>
          </a:xfrm>
          <a:prstGeom prst="rect">
            <a:avLst/>
          </a:prstGeom>
          <a:noFill/>
        </p:spPr>
        <p:txBody>
          <a:bodyPr wrap="square">
            <a:spAutoFit/>
          </a:bodyPr>
          <a:lstStyle/>
          <a:p>
            <a:pPr algn="l"/>
            <a:r>
              <a:rPr sz="1350" b="1" i="0">
                <a:solidFill>
                  <a:srgbClr val="00AAFF"/>
                </a:solidFill>
              </a:rPr>
              <a:t>1. VALIDATE
(CHAMBER)</a:t>
            </a:r>
          </a:p>
        </p:txBody>
      </p:sp>
      <p:sp>
        <p:nvSpPr>
          <p:cNvPr id="8" name="TextBox 7"/>
          <p:cNvSpPr txBox="1"/>
          <p:nvPr/>
        </p:nvSpPr>
        <p:spPr>
          <a:xfrm>
            <a:off x="594360" y="1920240"/>
            <a:ext cx="3383280" cy="2468880"/>
          </a:xfrm>
          <a:prstGeom prst="rect">
            <a:avLst/>
          </a:prstGeom>
          <a:noFill/>
        </p:spPr>
        <p:txBody>
          <a:bodyPr wrap="square">
            <a:spAutoFit/>
          </a:bodyPr>
          <a:lstStyle/>
          <a:p>
            <a:pPr algn="l"/>
            <a:r>
              <a:rPr sz="1000" b="0" i="0">
                <a:solidFill>
                  <a:srgbClr val="7AA5CC"/>
                </a:solidFill>
              </a:rPr>
              <a:t>Benchtop hypobaric-cryo chamber
• Pressure: 30–101 kPa (PID ±2 kPa)
• Temperature: -35°C to +55°C
• 8-channel K-type thermocouple DAQ
• High-voltage Paschen coupon
• Provides actual ground truth empirical proof</a:t>
            </a:r>
          </a:p>
        </p:txBody>
      </p:sp>
      <p:sp>
        <p:nvSpPr>
          <p:cNvPr id="9" name="Rectangle 8"/>
          <p:cNvSpPr/>
          <p:nvPr/>
        </p:nvSpPr>
        <p:spPr>
          <a:xfrm>
            <a:off x="4297680" y="1097280"/>
            <a:ext cx="3657600" cy="347472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234440"/>
            <a:ext cx="3383280" cy="594360"/>
          </a:xfrm>
          <a:prstGeom prst="rect">
            <a:avLst/>
          </a:prstGeom>
          <a:noFill/>
        </p:spPr>
        <p:txBody>
          <a:bodyPr wrap="square">
            <a:spAutoFit/>
          </a:bodyPr>
          <a:lstStyle/>
          <a:p>
            <a:pPr algn="l"/>
            <a:r>
              <a:rPr sz="1350" b="1" i="0">
                <a:solidFill>
                  <a:srgbClr val="FF7700"/>
                </a:solidFill>
              </a:rPr>
              <a:t>2. PREDICT
(FORGE)</a:t>
            </a:r>
          </a:p>
        </p:txBody>
      </p:sp>
      <p:sp>
        <p:nvSpPr>
          <p:cNvPr id="11" name="TextBox 10"/>
          <p:cNvSpPr txBox="1"/>
          <p:nvPr/>
        </p:nvSpPr>
        <p:spPr>
          <a:xfrm>
            <a:off x="4434840" y="1920240"/>
            <a:ext cx="3383280" cy="2468880"/>
          </a:xfrm>
          <a:prstGeom prst="rect">
            <a:avLst/>
          </a:prstGeom>
          <a:noFill/>
        </p:spPr>
        <p:txBody>
          <a:bodyPr wrap="square">
            <a:spAutoFit/>
          </a:bodyPr>
          <a:lstStyle/>
          <a:p>
            <a:pPr algn="l"/>
            <a:r>
              <a:rPr sz="1000" b="0" i="0">
                <a:solidFill>
                  <a:srgbClr val="7AA5CC"/>
                </a:solidFill>
              </a:rPr>
              <a:t>Failure-physics simulation engine
• Thermal RC network: h ∝ ρ^0.8
• Paschen dielectric arc breakdown check
• Coffin-Manson solder fatigue RUL
• Battery ECM + GP residual correction
• Outputs Derating Report &amp; Hardening BOM</a:t>
            </a:r>
          </a:p>
        </p:txBody>
      </p:sp>
      <p:sp>
        <p:nvSpPr>
          <p:cNvPr id="12" name="Rectangle 11"/>
          <p:cNvSpPr/>
          <p:nvPr/>
        </p:nvSpPr>
        <p:spPr>
          <a:xfrm>
            <a:off x="8138160" y="1097280"/>
            <a:ext cx="3657600" cy="3474720"/>
          </a:xfrm>
          <a:prstGeom prst="rect">
            <a:avLst/>
          </a:prstGeom>
          <a:solidFill>
            <a:srgbClr val="0D1525"/>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75320" y="1234440"/>
            <a:ext cx="3383280" cy="594360"/>
          </a:xfrm>
          <a:prstGeom prst="rect">
            <a:avLst/>
          </a:prstGeom>
          <a:noFill/>
        </p:spPr>
        <p:txBody>
          <a:bodyPr wrap="square">
            <a:spAutoFit/>
          </a:bodyPr>
          <a:lstStyle/>
          <a:p>
            <a:pPr algn="l"/>
            <a:r>
              <a:rPr sz="1350" b="1" i="0">
                <a:solidFill>
                  <a:srgbClr val="00E676"/>
                </a:solidFill>
              </a:rPr>
              <a:t>3. PROTECT
(GUARD)</a:t>
            </a:r>
          </a:p>
        </p:txBody>
      </p:sp>
      <p:sp>
        <p:nvSpPr>
          <p:cNvPr id="14" name="TextBox 13"/>
          <p:cNvSpPr txBox="1"/>
          <p:nvPr/>
        </p:nvSpPr>
        <p:spPr>
          <a:xfrm>
            <a:off x="8275320" y="1920240"/>
            <a:ext cx="3383280" cy="2468880"/>
          </a:xfrm>
          <a:prstGeom prst="rect">
            <a:avLst/>
          </a:prstGeom>
          <a:noFill/>
        </p:spPr>
        <p:txBody>
          <a:bodyPr wrap="square">
            <a:spAutoFit/>
          </a:bodyPr>
          <a:lstStyle/>
          <a:p>
            <a:pPr algn="l"/>
            <a:r>
              <a:rPr sz="1000" b="0" i="0">
                <a:solidFill>
                  <a:srgbClr val="7AA5CC"/>
                </a:solidFill>
              </a:rPr>
              <a:t>Autonomous retrofit envelope controller
• Dual MCU: STM32G4 (10 Hz) + ESP32-S3
• 4 States: NOMINAL / DERATED / PROTECT / LOCKOUT
• Controls: PWM fan, PTC pre-heat, load shedding
• State-of-Power (SoP) dynamic cutoff firmware
• Air-gapped, zero cloud dependency</a:t>
            </a:r>
          </a:p>
        </p:txBody>
      </p:sp>
      <p:sp>
        <p:nvSpPr>
          <p:cNvPr id="15" name="TextBox 14"/>
          <p:cNvSpPr txBox="1"/>
          <p:nvPr/>
        </p:nvSpPr>
        <p:spPr>
          <a:xfrm>
            <a:off x="4114800" y="2468880"/>
            <a:ext cx="274320" cy="457200"/>
          </a:xfrm>
          <a:prstGeom prst="rect">
            <a:avLst/>
          </a:prstGeom>
          <a:noFill/>
        </p:spPr>
        <p:txBody>
          <a:bodyPr wrap="square">
            <a:spAutoFit/>
          </a:bodyPr>
          <a:lstStyle/>
          <a:p>
            <a:pPr algn="l"/>
            <a:r>
              <a:rPr sz="2400" b="0" i="0">
                <a:solidFill>
                  <a:srgbClr val="456080"/>
                </a:solidFill>
              </a:rPr>
              <a:t>→</a:t>
            </a:r>
          </a:p>
        </p:txBody>
      </p:sp>
      <p:sp>
        <p:nvSpPr>
          <p:cNvPr id="16" name="TextBox 15"/>
          <p:cNvSpPr txBox="1"/>
          <p:nvPr/>
        </p:nvSpPr>
        <p:spPr>
          <a:xfrm>
            <a:off x="7955279" y="2468880"/>
            <a:ext cx="274320" cy="457200"/>
          </a:xfrm>
          <a:prstGeom prst="rect">
            <a:avLst/>
          </a:prstGeom>
          <a:noFill/>
        </p:spPr>
        <p:txBody>
          <a:bodyPr wrap="square">
            <a:spAutoFit/>
          </a:bodyPr>
          <a:lstStyle/>
          <a:p>
            <a:pPr algn="l"/>
            <a:r>
              <a:rPr sz="2400" b="0" i="0">
                <a:solidFill>
                  <a:srgbClr val="456080"/>
                </a:solidFill>
              </a:rPr>
              <a:t>→</a:t>
            </a:r>
          </a:p>
        </p:txBody>
      </p:sp>
      <p:sp>
        <p:nvSpPr>
          <p:cNvPr id="17" name="TextBox 16"/>
          <p:cNvSpPr txBox="1"/>
          <p:nvPr/>
        </p:nvSpPr>
        <p:spPr>
          <a:xfrm>
            <a:off x="457200" y="4709160"/>
            <a:ext cx="11247120" cy="320040"/>
          </a:xfrm>
          <a:prstGeom prst="rect">
            <a:avLst/>
          </a:prstGeom>
          <a:noFill/>
        </p:spPr>
        <p:txBody>
          <a:bodyPr wrap="square">
            <a:spAutoFit/>
          </a:bodyPr>
          <a:lstStyle/>
          <a:p>
            <a:pPr algn="ctr"/>
            <a:r>
              <a:rPr sz="1050" b="0" i="1">
                <a:solidFill>
                  <a:srgbClr val="00AAFF"/>
                </a:solidFill>
              </a:rPr>
              <a:t>← Field Telemetry Recalibrates FORGE Models — The Closed Digital Twin Loop ←</a:t>
            </a:r>
          </a:p>
        </p:txBody>
      </p:sp>
      <p:sp>
        <p:nvSpPr>
          <p:cNvPr id="18" name="Rectangle 17"/>
          <p:cNvSpPr/>
          <p:nvPr/>
        </p:nvSpPr>
        <p:spPr>
          <a:xfrm>
            <a:off x="457200" y="5074920"/>
            <a:ext cx="11247120" cy="1371600"/>
          </a:xfrm>
          <a:prstGeom prst="rect">
            <a:avLst/>
          </a:prstGeom>
          <a:solidFill>
            <a:srgbClr val="051020"/>
          </a:solidFill>
          <a:ln w="12700">
            <a:solidFill>
              <a:srgbClr val="7AA5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166360"/>
            <a:ext cx="10881360" cy="274320"/>
          </a:xfrm>
          <a:prstGeom prst="rect">
            <a:avLst/>
          </a:prstGeom>
          <a:noFill/>
        </p:spPr>
        <p:txBody>
          <a:bodyPr wrap="square">
            <a:spAutoFit/>
          </a:bodyPr>
          <a:lstStyle/>
          <a:p>
            <a:pPr algn="l"/>
            <a:r>
              <a:rPr sz="1100" b="1" i="0">
                <a:solidFill>
                  <a:srgbClr val="7AA5CC"/>
                </a:solidFill>
              </a:rPr>
              <a:t>4. MONITOR (FLEET DASHBOARD &amp; RETROFIT DEPLOYMENT)</a:t>
            </a:r>
          </a:p>
        </p:txBody>
      </p:sp>
      <p:sp>
        <p:nvSpPr>
          <p:cNvPr id="20" name="TextBox 19"/>
          <p:cNvSpPr txBox="1"/>
          <p:nvPr/>
        </p:nvSpPr>
        <p:spPr>
          <a:xfrm>
            <a:off x="640080" y="5486400"/>
            <a:ext cx="10881360" cy="868680"/>
          </a:xfrm>
          <a:prstGeom prst="rect">
            <a:avLst/>
          </a:prstGeom>
          <a:noFill/>
        </p:spPr>
        <p:txBody>
          <a:bodyPr wrap="square">
            <a:spAutoFit/>
          </a:bodyPr>
          <a:lstStyle/>
          <a:p>
            <a:pPr algn="l"/>
            <a:r>
              <a:rPr sz="950" b="0" i="0">
                <a:solidFill>
                  <a:srgbClr val="E8F4FF"/>
                </a:solidFill>
              </a:rPr>
              <a:t>• Air-gapped tactical display designed for forward signals units (e.g. 14 Corps / Leh / DBO)
• Delay-tolerant store-and-forward buffer: stores telemetry offline for up to 230 days during mountain RF blackout
• Fleet health matrix, RUL tracking via Miner's Rule, and automated component replacement scheduling.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F3D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"COLD AIR, HOT CHIP" — The High-Altitude Thermal Paradox</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FF7700"/>
                </a:solidFill>
              </a:rPr>
              <a:t>Subzero temperatures (-20°C ambient) do NOT prevent overheating. Air density drops 50% at 5,500m.</a:t>
            </a:r>
          </a:p>
        </p:txBody>
      </p:sp>
      <p:sp>
        <p:nvSpPr>
          <p:cNvPr id="6" name="Rectangle 5"/>
          <p:cNvSpPr/>
          <p:nvPr/>
        </p:nvSpPr>
        <p:spPr>
          <a:xfrm>
            <a:off x="457200" y="1188720"/>
            <a:ext cx="1828800" cy="43891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93776" y="1225296"/>
            <a:ext cx="1755648" cy="365760"/>
          </a:xfrm>
          <a:prstGeom prst="rect">
            <a:avLst/>
          </a:prstGeom>
          <a:noFill/>
        </p:spPr>
        <p:txBody>
          <a:bodyPr wrap="square">
            <a:spAutoFit/>
          </a:bodyPr>
          <a:lstStyle/>
          <a:p>
            <a:pPr algn="ctr"/>
            <a:r>
              <a:rPr sz="950" b="1" i="0">
                <a:solidFill>
                  <a:srgbClr val="00AAFF"/>
                </a:solidFill>
              </a:rPr>
              <a:t>Altitude</a:t>
            </a:r>
          </a:p>
        </p:txBody>
      </p:sp>
      <p:sp>
        <p:nvSpPr>
          <p:cNvPr id="8" name="Rectangle 7"/>
          <p:cNvSpPr/>
          <p:nvPr/>
        </p:nvSpPr>
        <p:spPr>
          <a:xfrm>
            <a:off x="2286000" y="1188720"/>
            <a:ext cx="1188720" cy="43891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22576" y="1225296"/>
            <a:ext cx="1115568" cy="365760"/>
          </a:xfrm>
          <a:prstGeom prst="rect">
            <a:avLst/>
          </a:prstGeom>
          <a:noFill/>
        </p:spPr>
        <p:txBody>
          <a:bodyPr wrap="square">
            <a:spAutoFit/>
          </a:bodyPr>
          <a:lstStyle/>
          <a:p>
            <a:pPr algn="ctr"/>
            <a:r>
              <a:rPr sz="950" b="1" i="0">
                <a:solidFill>
                  <a:srgbClr val="00AAFF"/>
                </a:solidFill>
              </a:rPr>
              <a:t>Pressure</a:t>
            </a:r>
          </a:p>
        </p:txBody>
      </p:sp>
      <p:sp>
        <p:nvSpPr>
          <p:cNvPr id="10" name="Rectangle 9"/>
          <p:cNvSpPr/>
          <p:nvPr/>
        </p:nvSpPr>
        <p:spPr>
          <a:xfrm>
            <a:off x="3474720" y="1188720"/>
            <a:ext cx="1463040" cy="43891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1296" y="1225296"/>
            <a:ext cx="1389888" cy="365760"/>
          </a:xfrm>
          <a:prstGeom prst="rect">
            <a:avLst/>
          </a:prstGeom>
          <a:noFill/>
        </p:spPr>
        <p:txBody>
          <a:bodyPr wrap="square">
            <a:spAutoFit/>
          </a:bodyPr>
          <a:lstStyle/>
          <a:p>
            <a:pPr algn="ctr"/>
            <a:r>
              <a:rPr sz="950" b="1" i="0">
                <a:solidFill>
                  <a:srgbClr val="00AAFF"/>
                </a:solidFill>
              </a:rPr>
              <a:t>Air Density (ρ/ρ₀)</a:t>
            </a:r>
          </a:p>
        </p:txBody>
      </p:sp>
      <p:sp>
        <p:nvSpPr>
          <p:cNvPr id="12" name="Rectangle 11"/>
          <p:cNvSpPr/>
          <p:nvPr/>
        </p:nvSpPr>
        <p:spPr>
          <a:xfrm>
            <a:off x="4937760" y="1188720"/>
            <a:ext cx="1188720" cy="43891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974336" y="1225296"/>
            <a:ext cx="1115568" cy="365760"/>
          </a:xfrm>
          <a:prstGeom prst="rect">
            <a:avLst/>
          </a:prstGeom>
          <a:noFill/>
        </p:spPr>
        <p:txBody>
          <a:bodyPr wrap="square">
            <a:spAutoFit/>
          </a:bodyPr>
          <a:lstStyle/>
          <a:p>
            <a:pPr algn="ctr"/>
            <a:r>
              <a:rPr sz="950" b="1" i="0">
                <a:solidFill>
                  <a:srgbClr val="00AAFF"/>
                </a:solidFill>
              </a:rPr>
              <a:t>θ_JA Forced</a:t>
            </a:r>
          </a:p>
        </p:txBody>
      </p:sp>
      <p:sp>
        <p:nvSpPr>
          <p:cNvPr id="14" name="Rectangle 13"/>
          <p:cNvSpPr/>
          <p:nvPr/>
        </p:nvSpPr>
        <p:spPr>
          <a:xfrm>
            <a:off x="6126480" y="1188720"/>
            <a:ext cx="2011680" cy="43891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63056" y="1225296"/>
            <a:ext cx="1938528" cy="365760"/>
          </a:xfrm>
          <a:prstGeom prst="rect">
            <a:avLst/>
          </a:prstGeom>
          <a:noFill/>
        </p:spPr>
        <p:txBody>
          <a:bodyPr wrap="square">
            <a:spAutoFit/>
          </a:bodyPr>
          <a:lstStyle/>
          <a:p>
            <a:pPr algn="ctr"/>
            <a:r>
              <a:rPr sz="950" b="1" i="0">
                <a:solidFill>
                  <a:srgbClr val="00AAFF"/>
                </a:solidFill>
              </a:rPr>
              <a:t>Thermal Penalty</a:t>
            </a:r>
          </a:p>
        </p:txBody>
      </p:sp>
      <p:sp>
        <p:nvSpPr>
          <p:cNvPr id="16" name="Rectangle 15"/>
          <p:cNvSpPr/>
          <p:nvPr/>
        </p:nvSpPr>
        <p:spPr>
          <a:xfrm>
            <a:off x="457200" y="1664208"/>
            <a:ext cx="182880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3776" y="1700784"/>
            <a:ext cx="1755648" cy="365760"/>
          </a:xfrm>
          <a:prstGeom prst="rect">
            <a:avLst/>
          </a:prstGeom>
          <a:noFill/>
        </p:spPr>
        <p:txBody>
          <a:bodyPr wrap="square">
            <a:spAutoFit/>
          </a:bodyPr>
          <a:lstStyle/>
          <a:p>
            <a:pPr algn="ctr"/>
            <a:r>
              <a:rPr sz="950" b="0" i="0">
                <a:solidFill>
                  <a:srgbClr val="E8F4FF"/>
                </a:solidFill>
              </a:rPr>
              <a:t>Sea Level (0m)</a:t>
            </a:r>
          </a:p>
        </p:txBody>
      </p:sp>
      <p:sp>
        <p:nvSpPr>
          <p:cNvPr id="18" name="Rectangle 17"/>
          <p:cNvSpPr/>
          <p:nvPr/>
        </p:nvSpPr>
        <p:spPr>
          <a:xfrm>
            <a:off x="2286000" y="1664208"/>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322576" y="1700784"/>
            <a:ext cx="1115568" cy="365760"/>
          </a:xfrm>
          <a:prstGeom prst="rect">
            <a:avLst/>
          </a:prstGeom>
          <a:noFill/>
        </p:spPr>
        <p:txBody>
          <a:bodyPr wrap="square">
            <a:spAutoFit/>
          </a:bodyPr>
          <a:lstStyle/>
          <a:p>
            <a:pPr algn="ctr"/>
            <a:r>
              <a:rPr sz="950" b="0" i="0">
                <a:solidFill>
                  <a:srgbClr val="E8F4FF"/>
                </a:solidFill>
              </a:rPr>
              <a:t>101.3 kPa</a:t>
            </a:r>
          </a:p>
        </p:txBody>
      </p:sp>
      <p:sp>
        <p:nvSpPr>
          <p:cNvPr id="20" name="Rectangle 19"/>
          <p:cNvSpPr/>
          <p:nvPr/>
        </p:nvSpPr>
        <p:spPr>
          <a:xfrm>
            <a:off x="3474720" y="1664208"/>
            <a:ext cx="146304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11296" y="1700784"/>
            <a:ext cx="1389888" cy="365760"/>
          </a:xfrm>
          <a:prstGeom prst="rect">
            <a:avLst/>
          </a:prstGeom>
          <a:noFill/>
        </p:spPr>
        <p:txBody>
          <a:bodyPr wrap="square">
            <a:spAutoFit/>
          </a:bodyPr>
          <a:lstStyle/>
          <a:p>
            <a:pPr algn="ctr"/>
            <a:r>
              <a:rPr sz="950" b="0" i="0">
                <a:solidFill>
                  <a:srgbClr val="E8F4FF"/>
                </a:solidFill>
              </a:rPr>
              <a:t>1.00</a:t>
            </a:r>
          </a:p>
        </p:txBody>
      </p:sp>
      <p:sp>
        <p:nvSpPr>
          <p:cNvPr id="22" name="Rectangle 21"/>
          <p:cNvSpPr/>
          <p:nvPr/>
        </p:nvSpPr>
        <p:spPr>
          <a:xfrm>
            <a:off x="4937760" y="1664208"/>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74336" y="1700784"/>
            <a:ext cx="1115568" cy="365760"/>
          </a:xfrm>
          <a:prstGeom prst="rect">
            <a:avLst/>
          </a:prstGeom>
          <a:noFill/>
        </p:spPr>
        <p:txBody>
          <a:bodyPr wrap="square">
            <a:spAutoFit/>
          </a:bodyPr>
          <a:lstStyle/>
          <a:p>
            <a:pPr algn="ctr"/>
            <a:r>
              <a:rPr sz="950" b="0" i="0">
                <a:solidFill>
                  <a:srgbClr val="E8F4FF"/>
                </a:solidFill>
              </a:rPr>
              <a:t>3.0 °C/W</a:t>
            </a:r>
          </a:p>
        </p:txBody>
      </p:sp>
      <p:sp>
        <p:nvSpPr>
          <p:cNvPr id="24" name="Rectangle 23"/>
          <p:cNvSpPr/>
          <p:nvPr/>
        </p:nvSpPr>
        <p:spPr>
          <a:xfrm>
            <a:off x="6126480" y="1664208"/>
            <a:ext cx="201168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63056" y="1700784"/>
            <a:ext cx="1938528" cy="365760"/>
          </a:xfrm>
          <a:prstGeom prst="rect">
            <a:avLst/>
          </a:prstGeom>
          <a:noFill/>
        </p:spPr>
        <p:txBody>
          <a:bodyPr wrap="square">
            <a:spAutoFit/>
          </a:bodyPr>
          <a:lstStyle/>
          <a:p>
            <a:pPr algn="ctr"/>
            <a:r>
              <a:rPr sz="950" b="0" i="0">
                <a:solidFill>
                  <a:srgbClr val="E8F4FF"/>
                </a:solidFill>
              </a:rPr>
              <a:t>Baseline (Nominal)</a:t>
            </a:r>
          </a:p>
        </p:txBody>
      </p:sp>
      <p:sp>
        <p:nvSpPr>
          <p:cNvPr id="26" name="Rectangle 25"/>
          <p:cNvSpPr/>
          <p:nvPr/>
        </p:nvSpPr>
        <p:spPr>
          <a:xfrm>
            <a:off x="457200" y="2139696"/>
            <a:ext cx="182880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3776" y="2176272"/>
            <a:ext cx="1755648" cy="365760"/>
          </a:xfrm>
          <a:prstGeom prst="rect">
            <a:avLst/>
          </a:prstGeom>
          <a:noFill/>
        </p:spPr>
        <p:txBody>
          <a:bodyPr wrap="square">
            <a:spAutoFit/>
          </a:bodyPr>
          <a:lstStyle/>
          <a:p>
            <a:pPr algn="ctr"/>
            <a:r>
              <a:rPr sz="950" b="0" i="0">
                <a:solidFill>
                  <a:srgbClr val="E8F4FF"/>
                </a:solidFill>
              </a:rPr>
              <a:t>Leh (3,500m)</a:t>
            </a:r>
          </a:p>
        </p:txBody>
      </p:sp>
      <p:sp>
        <p:nvSpPr>
          <p:cNvPr id="28" name="Rectangle 27"/>
          <p:cNvSpPr/>
          <p:nvPr/>
        </p:nvSpPr>
        <p:spPr>
          <a:xfrm>
            <a:off x="2286000" y="2139696"/>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322576" y="2176272"/>
            <a:ext cx="1115568" cy="365760"/>
          </a:xfrm>
          <a:prstGeom prst="rect">
            <a:avLst/>
          </a:prstGeom>
          <a:noFill/>
        </p:spPr>
        <p:txBody>
          <a:bodyPr wrap="square">
            <a:spAutoFit/>
          </a:bodyPr>
          <a:lstStyle/>
          <a:p>
            <a:pPr algn="ctr"/>
            <a:r>
              <a:rPr sz="950" b="0" i="0">
                <a:solidFill>
                  <a:srgbClr val="E8F4FF"/>
                </a:solidFill>
              </a:rPr>
              <a:t>65.8 kPa</a:t>
            </a:r>
          </a:p>
        </p:txBody>
      </p:sp>
      <p:sp>
        <p:nvSpPr>
          <p:cNvPr id="30" name="Rectangle 29"/>
          <p:cNvSpPr/>
          <p:nvPr/>
        </p:nvSpPr>
        <p:spPr>
          <a:xfrm>
            <a:off x="3474720" y="2139696"/>
            <a:ext cx="146304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11296" y="2176272"/>
            <a:ext cx="1389888" cy="365760"/>
          </a:xfrm>
          <a:prstGeom prst="rect">
            <a:avLst/>
          </a:prstGeom>
          <a:noFill/>
        </p:spPr>
        <p:txBody>
          <a:bodyPr wrap="square">
            <a:spAutoFit/>
          </a:bodyPr>
          <a:lstStyle/>
          <a:p>
            <a:pPr algn="ctr"/>
            <a:r>
              <a:rPr sz="950" b="0" i="0">
                <a:solidFill>
                  <a:srgbClr val="E8F4FF"/>
                </a:solidFill>
              </a:rPr>
              <a:t>0.65</a:t>
            </a:r>
          </a:p>
        </p:txBody>
      </p:sp>
      <p:sp>
        <p:nvSpPr>
          <p:cNvPr id="32" name="Rectangle 31"/>
          <p:cNvSpPr/>
          <p:nvPr/>
        </p:nvSpPr>
        <p:spPr>
          <a:xfrm>
            <a:off x="4937760" y="2139696"/>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974336" y="2176272"/>
            <a:ext cx="1115568" cy="365760"/>
          </a:xfrm>
          <a:prstGeom prst="rect">
            <a:avLst/>
          </a:prstGeom>
          <a:noFill/>
        </p:spPr>
        <p:txBody>
          <a:bodyPr wrap="square">
            <a:spAutoFit/>
          </a:bodyPr>
          <a:lstStyle/>
          <a:p>
            <a:pPr algn="ctr"/>
            <a:r>
              <a:rPr sz="950" b="0" i="0">
                <a:solidFill>
                  <a:srgbClr val="E8F4FF"/>
                </a:solidFill>
              </a:rPr>
              <a:t>4.2 °C/W</a:t>
            </a:r>
          </a:p>
        </p:txBody>
      </p:sp>
      <p:sp>
        <p:nvSpPr>
          <p:cNvPr id="34" name="Rectangle 33"/>
          <p:cNvSpPr/>
          <p:nvPr/>
        </p:nvSpPr>
        <p:spPr>
          <a:xfrm>
            <a:off x="6126480" y="2139696"/>
            <a:ext cx="201168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63056" y="2176272"/>
            <a:ext cx="1938528" cy="365760"/>
          </a:xfrm>
          <a:prstGeom prst="rect">
            <a:avLst/>
          </a:prstGeom>
          <a:noFill/>
        </p:spPr>
        <p:txBody>
          <a:bodyPr wrap="square">
            <a:spAutoFit/>
          </a:bodyPr>
          <a:lstStyle/>
          <a:p>
            <a:pPr algn="ctr"/>
            <a:r>
              <a:rPr sz="950" b="0" i="0">
                <a:solidFill>
                  <a:srgbClr val="E8F4FF"/>
                </a:solidFill>
              </a:rPr>
              <a:t>+40% Thermal Resistance</a:t>
            </a:r>
          </a:p>
        </p:txBody>
      </p:sp>
      <p:sp>
        <p:nvSpPr>
          <p:cNvPr id="36" name="Rectangle 35"/>
          <p:cNvSpPr/>
          <p:nvPr/>
        </p:nvSpPr>
        <p:spPr>
          <a:xfrm>
            <a:off x="457200" y="2615184"/>
            <a:ext cx="182880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3776" y="2651760"/>
            <a:ext cx="1755648" cy="365760"/>
          </a:xfrm>
          <a:prstGeom prst="rect">
            <a:avLst/>
          </a:prstGeom>
          <a:noFill/>
        </p:spPr>
        <p:txBody>
          <a:bodyPr wrap="square">
            <a:spAutoFit/>
          </a:bodyPr>
          <a:lstStyle/>
          <a:p>
            <a:pPr algn="ctr"/>
            <a:r>
              <a:rPr sz="950" b="0" i="0">
                <a:solidFill>
                  <a:srgbClr val="E8F4FF"/>
                </a:solidFill>
              </a:rPr>
              <a:t>Nyoma ALG (4,180m)</a:t>
            </a:r>
          </a:p>
        </p:txBody>
      </p:sp>
      <p:sp>
        <p:nvSpPr>
          <p:cNvPr id="38" name="Rectangle 37"/>
          <p:cNvSpPr/>
          <p:nvPr/>
        </p:nvSpPr>
        <p:spPr>
          <a:xfrm>
            <a:off x="2286000" y="2615184"/>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322576" y="2651760"/>
            <a:ext cx="1115568" cy="365760"/>
          </a:xfrm>
          <a:prstGeom prst="rect">
            <a:avLst/>
          </a:prstGeom>
          <a:noFill/>
        </p:spPr>
        <p:txBody>
          <a:bodyPr wrap="square">
            <a:spAutoFit/>
          </a:bodyPr>
          <a:lstStyle/>
          <a:p>
            <a:pPr algn="ctr"/>
            <a:r>
              <a:rPr sz="950" b="0" i="0">
                <a:solidFill>
                  <a:srgbClr val="E8F4FF"/>
                </a:solidFill>
              </a:rPr>
              <a:t>60.2 kPa</a:t>
            </a:r>
          </a:p>
        </p:txBody>
      </p:sp>
      <p:sp>
        <p:nvSpPr>
          <p:cNvPr id="40" name="Rectangle 39"/>
          <p:cNvSpPr/>
          <p:nvPr/>
        </p:nvSpPr>
        <p:spPr>
          <a:xfrm>
            <a:off x="3474720" y="2615184"/>
            <a:ext cx="146304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511296" y="2651760"/>
            <a:ext cx="1389888" cy="365760"/>
          </a:xfrm>
          <a:prstGeom prst="rect">
            <a:avLst/>
          </a:prstGeom>
          <a:noFill/>
        </p:spPr>
        <p:txBody>
          <a:bodyPr wrap="square">
            <a:spAutoFit/>
          </a:bodyPr>
          <a:lstStyle/>
          <a:p>
            <a:pPr algn="ctr"/>
            <a:r>
              <a:rPr sz="950" b="0" i="0">
                <a:solidFill>
                  <a:srgbClr val="E8F4FF"/>
                </a:solidFill>
              </a:rPr>
              <a:t>0.59</a:t>
            </a:r>
          </a:p>
        </p:txBody>
      </p:sp>
      <p:sp>
        <p:nvSpPr>
          <p:cNvPr id="42" name="Rectangle 41"/>
          <p:cNvSpPr/>
          <p:nvPr/>
        </p:nvSpPr>
        <p:spPr>
          <a:xfrm>
            <a:off x="4937760" y="2615184"/>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74336" y="2651760"/>
            <a:ext cx="1115568" cy="365760"/>
          </a:xfrm>
          <a:prstGeom prst="rect">
            <a:avLst/>
          </a:prstGeom>
          <a:noFill/>
        </p:spPr>
        <p:txBody>
          <a:bodyPr wrap="square">
            <a:spAutoFit/>
          </a:bodyPr>
          <a:lstStyle/>
          <a:p>
            <a:pPr algn="ctr"/>
            <a:r>
              <a:rPr sz="950" b="0" i="0">
                <a:solidFill>
                  <a:srgbClr val="E8F4FF"/>
                </a:solidFill>
              </a:rPr>
              <a:t>4.6 °C/W</a:t>
            </a:r>
          </a:p>
        </p:txBody>
      </p:sp>
      <p:sp>
        <p:nvSpPr>
          <p:cNvPr id="44" name="Rectangle 43"/>
          <p:cNvSpPr/>
          <p:nvPr/>
        </p:nvSpPr>
        <p:spPr>
          <a:xfrm>
            <a:off x="6126480" y="2615184"/>
            <a:ext cx="201168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163056" y="2651760"/>
            <a:ext cx="1938528" cy="365760"/>
          </a:xfrm>
          <a:prstGeom prst="rect">
            <a:avLst/>
          </a:prstGeom>
          <a:noFill/>
        </p:spPr>
        <p:txBody>
          <a:bodyPr wrap="square">
            <a:spAutoFit/>
          </a:bodyPr>
          <a:lstStyle/>
          <a:p>
            <a:pPr algn="ctr"/>
            <a:r>
              <a:rPr sz="950" b="0" i="0">
                <a:solidFill>
                  <a:srgbClr val="E8F4FF"/>
                </a:solidFill>
              </a:rPr>
              <a:t>+53% Thermal Resistance</a:t>
            </a:r>
          </a:p>
        </p:txBody>
      </p:sp>
      <p:sp>
        <p:nvSpPr>
          <p:cNvPr id="46" name="Rectangle 45"/>
          <p:cNvSpPr/>
          <p:nvPr/>
        </p:nvSpPr>
        <p:spPr>
          <a:xfrm>
            <a:off x="457200" y="3090672"/>
            <a:ext cx="182880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93776" y="3127248"/>
            <a:ext cx="1755648" cy="365760"/>
          </a:xfrm>
          <a:prstGeom prst="rect">
            <a:avLst/>
          </a:prstGeom>
          <a:noFill/>
        </p:spPr>
        <p:txBody>
          <a:bodyPr wrap="square">
            <a:spAutoFit/>
          </a:bodyPr>
          <a:lstStyle/>
          <a:p>
            <a:pPr algn="ctr"/>
            <a:r>
              <a:rPr sz="950" b="0" i="0">
                <a:solidFill>
                  <a:srgbClr val="E8F4FF"/>
                </a:solidFill>
              </a:rPr>
              <a:t>Daulat Beg Oldi (5,100m)</a:t>
            </a:r>
          </a:p>
        </p:txBody>
      </p:sp>
      <p:sp>
        <p:nvSpPr>
          <p:cNvPr id="48" name="Rectangle 47"/>
          <p:cNvSpPr/>
          <p:nvPr/>
        </p:nvSpPr>
        <p:spPr>
          <a:xfrm>
            <a:off x="2286000" y="3090672"/>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322576" y="3127248"/>
            <a:ext cx="1115568" cy="365760"/>
          </a:xfrm>
          <a:prstGeom prst="rect">
            <a:avLst/>
          </a:prstGeom>
          <a:noFill/>
        </p:spPr>
        <p:txBody>
          <a:bodyPr wrap="square">
            <a:spAutoFit/>
          </a:bodyPr>
          <a:lstStyle/>
          <a:p>
            <a:pPr algn="ctr"/>
            <a:r>
              <a:rPr sz="950" b="0" i="0">
                <a:solidFill>
                  <a:srgbClr val="E8F4FF"/>
                </a:solidFill>
              </a:rPr>
              <a:t>53.2 kPa</a:t>
            </a:r>
          </a:p>
        </p:txBody>
      </p:sp>
      <p:sp>
        <p:nvSpPr>
          <p:cNvPr id="50" name="Rectangle 49"/>
          <p:cNvSpPr/>
          <p:nvPr/>
        </p:nvSpPr>
        <p:spPr>
          <a:xfrm>
            <a:off x="3474720" y="3090672"/>
            <a:ext cx="146304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11296" y="3127248"/>
            <a:ext cx="1389888" cy="365760"/>
          </a:xfrm>
          <a:prstGeom prst="rect">
            <a:avLst/>
          </a:prstGeom>
          <a:noFill/>
        </p:spPr>
        <p:txBody>
          <a:bodyPr wrap="square">
            <a:spAutoFit/>
          </a:bodyPr>
          <a:lstStyle/>
          <a:p>
            <a:pPr algn="ctr"/>
            <a:r>
              <a:rPr sz="950" b="0" i="0">
                <a:solidFill>
                  <a:srgbClr val="E8F4FF"/>
                </a:solidFill>
              </a:rPr>
              <a:t>0.52</a:t>
            </a:r>
          </a:p>
        </p:txBody>
      </p:sp>
      <p:sp>
        <p:nvSpPr>
          <p:cNvPr id="52" name="Rectangle 51"/>
          <p:cNvSpPr/>
          <p:nvPr/>
        </p:nvSpPr>
        <p:spPr>
          <a:xfrm>
            <a:off x="4937760" y="3090672"/>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974336" y="3127248"/>
            <a:ext cx="1115568" cy="365760"/>
          </a:xfrm>
          <a:prstGeom prst="rect">
            <a:avLst/>
          </a:prstGeom>
          <a:noFill/>
        </p:spPr>
        <p:txBody>
          <a:bodyPr wrap="square">
            <a:spAutoFit/>
          </a:bodyPr>
          <a:lstStyle/>
          <a:p>
            <a:pPr algn="ctr"/>
            <a:r>
              <a:rPr sz="950" b="0" i="0">
                <a:solidFill>
                  <a:srgbClr val="E8F4FF"/>
                </a:solidFill>
              </a:rPr>
              <a:t>5.1 °C/W</a:t>
            </a:r>
          </a:p>
        </p:txBody>
      </p:sp>
      <p:sp>
        <p:nvSpPr>
          <p:cNvPr id="54" name="Rectangle 53"/>
          <p:cNvSpPr/>
          <p:nvPr/>
        </p:nvSpPr>
        <p:spPr>
          <a:xfrm>
            <a:off x="6126480" y="3090672"/>
            <a:ext cx="201168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163056" y="3127248"/>
            <a:ext cx="1938528" cy="365760"/>
          </a:xfrm>
          <a:prstGeom prst="rect">
            <a:avLst/>
          </a:prstGeom>
          <a:noFill/>
        </p:spPr>
        <p:txBody>
          <a:bodyPr wrap="square">
            <a:spAutoFit/>
          </a:bodyPr>
          <a:lstStyle/>
          <a:p>
            <a:pPr algn="ctr"/>
            <a:r>
              <a:rPr sz="950" b="0" i="0">
                <a:solidFill>
                  <a:srgbClr val="E8F4FF"/>
                </a:solidFill>
              </a:rPr>
              <a:t>+69% Thermal Resistance</a:t>
            </a:r>
          </a:p>
        </p:txBody>
      </p:sp>
      <p:sp>
        <p:nvSpPr>
          <p:cNvPr id="56" name="Rectangle 55"/>
          <p:cNvSpPr/>
          <p:nvPr/>
        </p:nvSpPr>
        <p:spPr>
          <a:xfrm>
            <a:off x="457200" y="3566160"/>
            <a:ext cx="182880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3776" y="3602736"/>
            <a:ext cx="1755648" cy="365760"/>
          </a:xfrm>
          <a:prstGeom prst="rect">
            <a:avLst/>
          </a:prstGeom>
          <a:noFill/>
        </p:spPr>
        <p:txBody>
          <a:bodyPr wrap="square">
            <a:spAutoFit/>
          </a:bodyPr>
          <a:lstStyle/>
          <a:p>
            <a:pPr algn="ctr"/>
            <a:r>
              <a:rPr sz="950" b="1" i="0">
                <a:solidFill>
                  <a:srgbClr val="FF7700"/>
                </a:solidFill>
              </a:rPr>
              <a:t>Khardung La (5,500m)</a:t>
            </a:r>
          </a:p>
        </p:txBody>
      </p:sp>
      <p:sp>
        <p:nvSpPr>
          <p:cNvPr id="58" name="Rectangle 57"/>
          <p:cNvSpPr/>
          <p:nvPr/>
        </p:nvSpPr>
        <p:spPr>
          <a:xfrm>
            <a:off x="2286000" y="3566160"/>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322576" y="3602736"/>
            <a:ext cx="1115568" cy="365760"/>
          </a:xfrm>
          <a:prstGeom prst="rect">
            <a:avLst/>
          </a:prstGeom>
          <a:noFill/>
        </p:spPr>
        <p:txBody>
          <a:bodyPr wrap="square">
            <a:spAutoFit/>
          </a:bodyPr>
          <a:lstStyle/>
          <a:p>
            <a:pPr algn="ctr"/>
            <a:r>
              <a:rPr sz="950" b="1" i="0">
                <a:solidFill>
                  <a:srgbClr val="FF7700"/>
                </a:solidFill>
              </a:rPr>
              <a:t>50.5 kPa</a:t>
            </a:r>
          </a:p>
        </p:txBody>
      </p:sp>
      <p:sp>
        <p:nvSpPr>
          <p:cNvPr id="60" name="Rectangle 59"/>
          <p:cNvSpPr/>
          <p:nvPr/>
        </p:nvSpPr>
        <p:spPr>
          <a:xfrm>
            <a:off x="3474720" y="3566160"/>
            <a:ext cx="146304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511296" y="3602736"/>
            <a:ext cx="1389888" cy="365760"/>
          </a:xfrm>
          <a:prstGeom prst="rect">
            <a:avLst/>
          </a:prstGeom>
          <a:noFill/>
        </p:spPr>
        <p:txBody>
          <a:bodyPr wrap="square">
            <a:spAutoFit/>
          </a:bodyPr>
          <a:lstStyle/>
          <a:p>
            <a:pPr algn="ctr"/>
            <a:r>
              <a:rPr sz="950" b="1" i="0">
                <a:solidFill>
                  <a:srgbClr val="FF7700"/>
                </a:solidFill>
              </a:rPr>
              <a:t>0.50</a:t>
            </a:r>
          </a:p>
        </p:txBody>
      </p:sp>
      <p:sp>
        <p:nvSpPr>
          <p:cNvPr id="62" name="Rectangle 61"/>
          <p:cNvSpPr/>
          <p:nvPr/>
        </p:nvSpPr>
        <p:spPr>
          <a:xfrm>
            <a:off x="4937760" y="3566160"/>
            <a:ext cx="118872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974336" y="3602736"/>
            <a:ext cx="1115568" cy="365760"/>
          </a:xfrm>
          <a:prstGeom prst="rect">
            <a:avLst/>
          </a:prstGeom>
          <a:noFill/>
        </p:spPr>
        <p:txBody>
          <a:bodyPr wrap="square">
            <a:spAutoFit/>
          </a:bodyPr>
          <a:lstStyle/>
          <a:p>
            <a:pPr algn="ctr"/>
            <a:r>
              <a:rPr sz="950" b="1" i="0">
                <a:solidFill>
                  <a:srgbClr val="FF7700"/>
                </a:solidFill>
              </a:rPr>
              <a:t>5.2 °C/W</a:t>
            </a:r>
          </a:p>
        </p:txBody>
      </p:sp>
      <p:sp>
        <p:nvSpPr>
          <p:cNvPr id="64" name="Rectangle 63"/>
          <p:cNvSpPr/>
          <p:nvPr/>
        </p:nvSpPr>
        <p:spPr>
          <a:xfrm>
            <a:off x="6126480" y="3566160"/>
            <a:ext cx="2011680" cy="43891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163056" y="3602736"/>
            <a:ext cx="1938528" cy="365760"/>
          </a:xfrm>
          <a:prstGeom prst="rect">
            <a:avLst/>
          </a:prstGeom>
          <a:noFill/>
        </p:spPr>
        <p:txBody>
          <a:bodyPr wrap="square">
            <a:spAutoFit/>
          </a:bodyPr>
          <a:lstStyle/>
          <a:p>
            <a:pPr algn="ctr"/>
            <a:r>
              <a:rPr sz="950" b="1" i="0">
                <a:solidFill>
                  <a:srgbClr val="FF7700"/>
                </a:solidFill>
              </a:rPr>
              <a:t>+74% Thermal Resistance (PS Scenario)</a:t>
            </a:r>
          </a:p>
        </p:txBody>
      </p:sp>
      <p:sp>
        <p:nvSpPr>
          <p:cNvPr id="66" name="Rectangle 65"/>
          <p:cNvSpPr/>
          <p:nvPr/>
        </p:nvSpPr>
        <p:spPr>
          <a:xfrm>
            <a:off x="8412480" y="1188720"/>
            <a:ext cx="3291840" cy="393192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549640" y="1325880"/>
            <a:ext cx="3017520" cy="365760"/>
          </a:xfrm>
          <a:prstGeom prst="rect">
            <a:avLst/>
          </a:prstGeom>
          <a:noFill/>
        </p:spPr>
        <p:txBody>
          <a:bodyPr wrap="square">
            <a:spAutoFit/>
          </a:bodyPr>
          <a:lstStyle/>
          <a:p>
            <a:pPr algn="l"/>
            <a:r>
              <a:rPr sz="1200" b="1" i="0">
                <a:solidFill>
                  <a:srgbClr val="FF7700"/>
                </a:solidFill>
              </a:rPr>
              <a:t>THE 2-MINUTE WOW PROOF</a:t>
            </a:r>
          </a:p>
        </p:txBody>
      </p:sp>
      <p:sp>
        <p:nvSpPr>
          <p:cNvPr id="68" name="TextBox 67"/>
          <p:cNvSpPr txBox="1"/>
          <p:nvPr/>
        </p:nvSpPr>
        <p:spPr>
          <a:xfrm>
            <a:off x="8549640" y="1737360"/>
            <a:ext cx="3017520" cy="3200400"/>
          </a:xfrm>
          <a:prstGeom prst="rect">
            <a:avLst/>
          </a:prstGeom>
          <a:noFill/>
        </p:spPr>
        <p:txBody>
          <a:bodyPr wrap="square">
            <a:spAutoFit/>
          </a:bodyPr>
          <a:lstStyle/>
          <a:p>
            <a:pPr algn="l"/>
            <a:r>
              <a:rPr sz="850" b="0" i="0">
                <a:solidFill>
                  <a:srgbClr val="7AA5CC"/>
                </a:solidFill>
              </a:rPr>
              <a:t>1. SET-UP: FORGE predicts T_junction = 71.4°C ± 3.1°C at 50 kPa. Baseline: 53°C at 101 kPa.
2. PUMP ENGAGED: Vacuum chamber drops pressure to 50 kPa. Chamber ambient temp remains FLAT on screen.
3. HOTSPOT CLIMB: Hotspot climbs +18.4°C purely due to convective thinning (h ∝ ρ^0.8).
4. VALIDATION: Live measurement hits 72.1°C — right inside FORGE's 95% confidence interval.
5. GUARD INTERVENTION: GUARD enters DERATED, ramps fan to 100% and sheds non-critical load → pulls T_j back to safe 58°C.</a:t>
            </a:r>
          </a:p>
        </p:txBody>
      </p:sp>
      <p:sp>
        <p:nvSpPr>
          <p:cNvPr id="69" name="Rectangle 68"/>
          <p:cNvSpPr/>
          <p:nvPr/>
        </p:nvSpPr>
        <p:spPr>
          <a:xfrm>
            <a:off x="457200" y="5303520"/>
            <a:ext cx="7772400" cy="1188720"/>
          </a:xfrm>
          <a:prstGeom prst="rect">
            <a:avLst/>
          </a:prstGeom>
          <a:solidFill>
            <a:srgbClr val="051020"/>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080" y="5394960"/>
            <a:ext cx="7406640" cy="274320"/>
          </a:xfrm>
          <a:prstGeom prst="rect">
            <a:avLst/>
          </a:prstGeom>
          <a:noFill/>
        </p:spPr>
        <p:txBody>
          <a:bodyPr wrap="square">
            <a:spAutoFit/>
          </a:bodyPr>
          <a:lstStyle/>
          <a:p>
            <a:pPr algn="l"/>
            <a:r>
              <a:rPr sz="1050" b="1" i="0">
                <a:solidFill>
                  <a:srgbClr val="00AAFF"/>
                </a:solidFill>
              </a:rPr>
              <a:t>GOVERNING HEAT TRANSFER EQUATION</a:t>
            </a:r>
          </a:p>
        </p:txBody>
      </p:sp>
      <p:sp>
        <p:nvSpPr>
          <p:cNvPr id="71" name="TextBox 70"/>
          <p:cNvSpPr txBox="1"/>
          <p:nvPr/>
        </p:nvSpPr>
        <p:spPr>
          <a:xfrm>
            <a:off x="640080" y="5715000"/>
            <a:ext cx="7406640" cy="685800"/>
          </a:xfrm>
          <a:prstGeom prst="rect">
            <a:avLst/>
          </a:prstGeom>
          <a:noFill/>
        </p:spPr>
        <p:txBody>
          <a:bodyPr wrap="square">
            <a:spAutoFit/>
          </a:bodyPr>
          <a:lstStyle/>
          <a:p>
            <a:pPr algn="l"/>
            <a:r>
              <a:rPr sz="950" b="0" i="0">
                <a:solidFill>
                  <a:srgbClr val="E8F4FF"/>
                </a:solidFill>
              </a:rPr>
              <a:t>Nu = C · Re^0.8 · Pr^0.33   where   Re = (ρ · v · L) / μ
At 5,500m, air density ρ drops by 50% → h_conv drops by 2^-0.8 = 0.574 (-42.6% heat transfer)
Therefore, heatsink thermal resistance rises: θ_JA(5,500m) = θ_JA(sea level) × 1.74 (+74%)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FF7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THE DRONE CHALLENGE — Decomposing the 60 min → 20 min Collapse</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7AA5CC"/>
                </a:solidFill>
              </a:rPr>
              <a:t>Indian Army surveillance drones along the LAC lose 70%+ endurance. HIMVAJRA isolates and solves each term:</a:t>
            </a:r>
          </a:p>
        </p:txBody>
      </p:sp>
      <p:sp>
        <p:nvSpPr>
          <p:cNvPr id="6" name="Rectangle 5"/>
          <p:cNvSpPr/>
          <p:nvPr/>
        </p:nvSpPr>
        <p:spPr>
          <a:xfrm>
            <a:off x="457200" y="1097280"/>
            <a:ext cx="2011680" cy="80467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152144"/>
            <a:ext cx="1901952" cy="694944"/>
          </a:xfrm>
          <a:prstGeom prst="rect">
            <a:avLst/>
          </a:prstGeom>
          <a:noFill/>
        </p:spPr>
        <p:txBody>
          <a:bodyPr wrap="square">
            <a:spAutoFit/>
          </a:bodyPr>
          <a:lstStyle/>
          <a:p>
            <a:pPr algn="l"/>
            <a:r>
              <a:rPr sz="950" b="1" i="0">
                <a:solidFill>
                  <a:srgbClr val="00AAFF"/>
                </a:solidFill>
              </a:rPr>
              <a:t>Flight Term</a:t>
            </a:r>
          </a:p>
        </p:txBody>
      </p:sp>
      <p:sp>
        <p:nvSpPr>
          <p:cNvPr id="8" name="Rectangle 7"/>
          <p:cNvSpPr/>
          <p:nvPr/>
        </p:nvSpPr>
        <p:spPr>
          <a:xfrm>
            <a:off x="2468880" y="1097280"/>
            <a:ext cx="2468880" cy="80467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523744" y="1152144"/>
            <a:ext cx="2359152" cy="694944"/>
          </a:xfrm>
          <a:prstGeom prst="rect">
            <a:avLst/>
          </a:prstGeom>
          <a:noFill/>
        </p:spPr>
        <p:txBody>
          <a:bodyPr wrap="square">
            <a:spAutoFit/>
          </a:bodyPr>
          <a:lstStyle/>
          <a:p>
            <a:pPr algn="l"/>
            <a:r>
              <a:rPr sz="950" b="1" i="0">
                <a:solidFill>
                  <a:srgbClr val="00AAFF"/>
                </a:solidFill>
              </a:rPr>
              <a:t>Governing Physics</a:t>
            </a:r>
          </a:p>
        </p:txBody>
      </p:sp>
      <p:sp>
        <p:nvSpPr>
          <p:cNvPr id="10" name="Rectangle 9"/>
          <p:cNvSpPr/>
          <p:nvPr/>
        </p:nvSpPr>
        <p:spPr>
          <a:xfrm>
            <a:off x="4937760" y="1097280"/>
            <a:ext cx="1005840" cy="80467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92624" y="1152144"/>
            <a:ext cx="896112" cy="694944"/>
          </a:xfrm>
          <a:prstGeom prst="rect">
            <a:avLst/>
          </a:prstGeom>
          <a:noFill/>
        </p:spPr>
        <p:txBody>
          <a:bodyPr wrap="square">
            <a:spAutoFit/>
          </a:bodyPr>
          <a:lstStyle/>
          <a:p>
            <a:pPr algn="ctr"/>
            <a:r>
              <a:rPr sz="950" b="1" i="0">
                <a:solidFill>
                  <a:srgbClr val="00AAFF"/>
                </a:solidFill>
              </a:rPr>
              <a:t>Stock Loss</a:t>
            </a:r>
          </a:p>
        </p:txBody>
      </p:sp>
      <p:sp>
        <p:nvSpPr>
          <p:cNvPr id="12" name="Rectangle 11"/>
          <p:cNvSpPr/>
          <p:nvPr/>
        </p:nvSpPr>
        <p:spPr>
          <a:xfrm>
            <a:off x="5943600" y="1097280"/>
            <a:ext cx="3931920" cy="80467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98464" y="1152144"/>
            <a:ext cx="3822192" cy="694944"/>
          </a:xfrm>
          <a:prstGeom prst="rect">
            <a:avLst/>
          </a:prstGeom>
          <a:noFill/>
        </p:spPr>
        <p:txBody>
          <a:bodyPr wrap="square">
            <a:spAutoFit/>
          </a:bodyPr>
          <a:lstStyle/>
          <a:p>
            <a:pPr algn="l"/>
            <a:r>
              <a:rPr sz="950" b="1" i="0">
                <a:solidFill>
                  <a:srgbClr val="00AAFF"/>
                </a:solidFill>
              </a:rPr>
              <a:t>HIMVAJRA Retrofit Modification</a:t>
            </a:r>
          </a:p>
        </p:txBody>
      </p:sp>
      <p:sp>
        <p:nvSpPr>
          <p:cNvPr id="14" name="Rectangle 13"/>
          <p:cNvSpPr/>
          <p:nvPr/>
        </p:nvSpPr>
        <p:spPr>
          <a:xfrm>
            <a:off x="9875520" y="1097280"/>
            <a:ext cx="1828800" cy="804672"/>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930384" y="1152144"/>
            <a:ext cx="1719072" cy="694944"/>
          </a:xfrm>
          <a:prstGeom prst="rect">
            <a:avLst/>
          </a:prstGeom>
          <a:noFill/>
        </p:spPr>
        <p:txBody>
          <a:bodyPr wrap="square">
            <a:spAutoFit/>
          </a:bodyPr>
          <a:lstStyle/>
          <a:p>
            <a:pPr algn="ctr"/>
            <a:r>
              <a:rPr sz="950" b="1" i="0">
                <a:solidFill>
                  <a:srgbClr val="00AAFF"/>
                </a:solidFill>
              </a:rPr>
              <a:t>Endurance Recovered</a:t>
            </a:r>
          </a:p>
        </p:txBody>
      </p:sp>
      <p:sp>
        <p:nvSpPr>
          <p:cNvPr id="16" name="Rectangle 15"/>
          <p:cNvSpPr/>
          <p:nvPr/>
        </p:nvSpPr>
        <p:spPr>
          <a:xfrm>
            <a:off x="457200" y="1965960"/>
            <a:ext cx="201168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2020824"/>
            <a:ext cx="1901952" cy="694944"/>
          </a:xfrm>
          <a:prstGeom prst="rect">
            <a:avLst/>
          </a:prstGeom>
          <a:noFill/>
        </p:spPr>
        <p:txBody>
          <a:bodyPr wrap="square">
            <a:spAutoFit/>
          </a:bodyPr>
          <a:lstStyle/>
          <a:p>
            <a:pPr algn="l"/>
            <a:r>
              <a:rPr sz="950" b="0" i="0">
                <a:solidFill>
                  <a:srgbClr val="E8F4FF"/>
                </a:solidFill>
              </a:rPr>
              <a:t>1. Aerodynamic Lift Deficit</a:t>
            </a:r>
          </a:p>
        </p:txBody>
      </p:sp>
      <p:sp>
        <p:nvSpPr>
          <p:cNvPr id="18" name="Rectangle 17"/>
          <p:cNvSpPr/>
          <p:nvPr/>
        </p:nvSpPr>
        <p:spPr>
          <a:xfrm>
            <a:off x="2468880" y="1965960"/>
            <a:ext cx="246888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523744" y="2020824"/>
            <a:ext cx="2359152" cy="694944"/>
          </a:xfrm>
          <a:prstGeom prst="rect">
            <a:avLst/>
          </a:prstGeom>
          <a:noFill/>
        </p:spPr>
        <p:txBody>
          <a:bodyPr wrap="square">
            <a:spAutoFit/>
          </a:bodyPr>
          <a:lstStyle/>
          <a:p>
            <a:pPr algn="l"/>
            <a:r>
              <a:rPr sz="950" b="0" i="0">
                <a:solidFill>
                  <a:srgbClr val="E8F4FF"/>
                </a:solidFill>
              </a:rPr>
              <a:t>Thrust = C_T · ρ · ω² · D⁴
Air density 0.52 kg/m³ forces higher RPM</a:t>
            </a:r>
          </a:p>
        </p:txBody>
      </p:sp>
      <p:sp>
        <p:nvSpPr>
          <p:cNvPr id="20" name="Rectangle 19"/>
          <p:cNvSpPr/>
          <p:nvPr/>
        </p:nvSpPr>
        <p:spPr>
          <a:xfrm>
            <a:off x="4937760" y="1965960"/>
            <a:ext cx="100584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92624" y="2020824"/>
            <a:ext cx="896112" cy="694944"/>
          </a:xfrm>
          <a:prstGeom prst="rect">
            <a:avLst/>
          </a:prstGeom>
          <a:noFill/>
        </p:spPr>
        <p:txBody>
          <a:bodyPr wrap="square">
            <a:spAutoFit/>
          </a:bodyPr>
          <a:lstStyle/>
          <a:p>
            <a:pPr algn="ctr"/>
            <a:r>
              <a:rPr sz="950" b="0" i="0">
                <a:solidFill>
                  <a:srgbClr val="E8F4FF"/>
                </a:solidFill>
              </a:rPr>
              <a:t>-8.2 min</a:t>
            </a:r>
          </a:p>
        </p:txBody>
      </p:sp>
      <p:sp>
        <p:nvSpPr>
          <p:cNvPr id="22" name="Rectangle 21"/>
          <p:cNvSpPr/>
          <p:nvPr/>
        </p:nvSpPr>
        <p:spPr>
          <a:xfrm>
            <a:off x="5943600" y="1965960"/>
            <a:ext cx="393192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98464" y="2020824"/>
            <a:ext cx="3822192" cy="694944"/>
          </a:xfrm>
          <a:prstGeom prst="rect">
            <a:avLst/>
          </a:prstGeom>
          <a:noFill/>
        </p:spPr>
        <p:txBody>
          <a:bodyPr wrap="square">
            <a:spAutoFit/>
          </a:bodyPr>
          <a:lstStyle/>
          <a:p>
            <a:pPr algn="l"/>
            <a:r>
              <a:rPr sz="950" b="0" i="0">
                <a:solidFill>
                  <a:srgbClr val="E8F4FF"/>
                </a:solidFill>
              </a:rPr>
              <a:t>High-camber, wider-chord cold-weather carbon blades (Thrust +18% in thin air)</a:t>
            </a:r>
          </a:p>
        </p:txBody>
      </p:sp>
      <p:sp>
        <p:nvSpPr>
          <p:cNvPr id="24" name="Rectangle 23"/>
          <p:cNvSpPr/>
          <p:nvPr/>
        </p:nvSpPr>
        <p:spPr>
          <a:xfrm>
            <a:off x="9875520" y="1965960"/>
            <a:ext cx="182880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930384" y="2020824"/>
            <a:ext cx="1719072" cy="694944"/>
          </a:xfrm>
          <a:prstGeom prst="rect">
            <a:avLst/>
          </a:prstGeom>
          <a:noFill/>
        </p:spPr>
        <p:txBody>
          <a:bodyPr wrap="square">
            <a:spAutoFit/>
          </a:bodyPr>
          <a:lstStyle/>
          <a:p>
            <a:pPr algn="ctr"/>
            <a:r>
              <a:rPr sz="950" b="0" i="0">
                <a:solidFill>
                  <a:srgbClr val="E8F4FF"/>
                </a:solidFill>
              </a:rPr>
              <a:t>+2.9 min</a:t>
            </a:r>
          </a:p>
        </p:txBody>
      </p:sp>
      <p:sp>
        <p:nvSpPr>
          <p:cNvPr id="26" name="Rectangle 25"/>
          <p:cNvSpPr/>
          <p:nvPr/>
        </p:nvSpPr>
        <p:spPr>
          <a:xfrm>
            <a:off x="457200" y="2834640"/>
            <a:ext cx="201168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 y="2889504"/>
            <a:ext cx="1901952" cy="694944"/>
          </a:xfrm>
          <a:prstGeom prst="rect">
            <a:avLst/>
          </a:prstGeom>
          <a:noFill/>
        </p:spPr>
        <p:txBody>
          <a:bodyPr wrap="square">
            <a:spAutoFit/>
          </a:bodyPr>
          <a:lstStyle/>
          <a:p>
            <a:pPr algn="l"/>
            <a:r>
              <a:rPr sz="950" b="0" i="0">
                <a:solidFill>
                  <a:srgbClr val="E8F4FF"/>
                </a:solidFill>
              </a:rPr>
              <a:t>2. Subzero Battery Freeze</a:t>
            </a:r>
          </a:p>
        </p:txBody>
      </p:sp>
      <p:sp>
        <p:nvSpPr>
          <p:cNvPr id="28" name="Rectangle 27"/>
          <p:cNvSpPr/>
          <p:nvPr/>
        </p:nvSpPr>
        <p:spPr>
          <a:xfrm>
            <a:off x="2468880" y="2834640"/>
            <a:ext cx="246888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523744" y="2889504"/>
            <a:ext cx="2359152" cy="694944"/>
          </a:xfrm>
          <a:prstGeom prst="rect">
            <a:avLst/>
          </a:prstGeom>
          <a:noFill/>
        </p:spPr>
        <p:txBody>
          <a:bodyPr wrap="square">
            <a:spAutoFit/>
          </a:bodyPr>
          <a:lstStyle/>
          <a:p>
            <a:pPr algn="l"/>
            <a:r>
              <a:rPr sz="950" b="0" i="0">
                <a:solidFill>
                  <a:srgbClr val="E8F4FF"/>
                </a:solidFill>
              </a:rPr>
              <a:t>R_int(T) = R_0 · exp[E_a/k(1/T - 1/T_0)]
Arrhenius kinetics double internal resistance</a:t>
            </a:r>
          </a:p>
        </p:txBody>
      </p:sp>
      <p:sp>
        <p:nvSpPr>
          <p:cNvPr id="30" name="Rectangle 29"/>
          <p:cNvSpPr/>
          <p:nvPr/>
        </p:nvSpPr>
        <p:spPr>
          <a:xfrm>
            <a:off x="4937760" y="2834640"/>
            <a:ext cx="100584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92624" y="2889504"/>
            <a:ext cx="896112" cy="694944"/>
          </a:xfrm>
          <a:prstGeom prst="rect">
            <a:avLst/>
          </a:prstGeom>
          <a:noFill/>
        </p:spPr>
        <p:txBody>
          <a:bodyPr wrap="square">
            <a:spAutoFit/>
          </a:bodyPr>
          <a:lstStyle/>
          <a:p>
            <a:pPr algn="ctr"/>
            <a:r>
              <a:rPr sz="950" b="0" i="0">
                <a:solidFill>
                  <a:srgbClr val="E8F4FF"/>
                </a:solidFill>
              </a:rPr>
              <a:t>-23.6 min</a:t>
            </a:r>
          </a:p>
        </p:txBody>
      </p:sp>
      <p:sp>
        <p:nvSpPr>
          <p:cNvPr id="32" name="Rectangle 31"/>
          <p:cNvSpPr/>
          <p:nvPr/>
        </p:nvSpPr>
        <p:spPr>
          <a:xfrm>
            <a:off x="5943600" y="2834640"/>
            <a:ext cx="393192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8464" y="2889504"/>
            <a:ext cx="3822192" cy="694944"/>
          </a:xfrm>
          <a:prstGeom prst="rect">
            <a:avLst/>
          </a:prstGeom>
          <a:noFill/>
        </p:spPr>
        <p:txBody>
          <a:bodyPr wrap="square">
            <a:spAutoFit/>
          </a:bodyPr>
          <a:lstStyle/>
          <a:p>
            <a:pPr algn="l"/>
            <a:r>
              <a:rPr sz="950" b="0" i="0">
                <a:solidFill>
                  <a:srgbClr val="E8F4FF"/>
                </a:solidFill>
              </a:rPr>
              <a:t>Vacuum aerogel blanket + 15W PTC pre-heating pad (pack maintained at +15°C)</a:t>
            </a:r>
          </a:p>
        </p:txBody>
      </p:sp>
      <p:sp>
        <p:nvSpPr>
          <p:cNvPr id="34" name="Rectangle 33"/>
          <p:cNvSpPr/>
          <p:nvPr/>
        </p:nvSpPr>
        <p:spPr>
          <a:xfrm>
            <a:off x="9875520" y="2834640"/>
            <a:ext cx="182880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930384" y="2889504"/>
            <a:ext cx="1719072" cy="694944"/>
          </a:xfrm>
          <a:prstGeom prst="rect">
            <a:avLst/>
          </a:prstGeom>
          <a:noFill/>
        </p:spPr>
        <p:txBody>
          <a:bodyPr wrap="square">
            <a:spAutoFit/>
          </a:bodyPr>
          <a:lstStyle/>
          <a:p>
            <a:pPr algn="ctr"/>
            <a:r>
              <a:rPr sz="950" b="0" i="0">
                <a:solidFill>
                  <a:srgbClr val="E8F4FF"/>
                </a:solidFill>
              </a:rPr>
              <a:t>+17.0 min</a:t>
            </a:r>
          </a:p>
        </p:txBody>
      </p:sp>
      <p:sp>
        <p:nvSpPr>
          <p:cNvPr id="36" name="Rectangle 35"/>
          <p:cNvSpPr/>
          <p:nvPr/>
        </p:nvSpPr>
        <p:spPr>
          <a:xfrm>
            <a:off x="457200" y="3703319"/>
            <a:ext cx="201168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2064" y="3758183"/>
            <a:ext cx="1901952" cy="694944"/>
          </a:xfrm>
          <a:prstGeom prst="rect">
            <a:avLst/>
          </a:prstGeom>
          <a:noFill/>
        </p:spPr>
        <p:txBody>
          <a:bodyPr wrap="square">
            <a:spAutoFit/>
          </a:bodyPr>
          <a:lstStyle/>
          <a:p>
            <a:pPr algn="l"/>
            <a:r>
              <a:rPr sz="950" b="0" i="0">
                <a:solidFill>
                  <a:srgbClr val="E8F4FF"/>
                </a:solidFill>
              </a:rPr>
              <a:t>3. Premature Voltage Sag Cutoff</a:t>
            </a:r>
          </a:p>
        </p:txBody>
      </p:sp>
      <p:sp>
        <p:nvSpPr>
          <p:cNvPr id="38" name="Rectangle 37"/>
          <p:cNvSpPr/>
          <p:nvPr/>
        </p:nvSpPr>
        <p:spPr>
          <a:xfrm>
            <a:off x="2468880" y="3703319"/>
            <a:ext cx="246888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523744" y="3758183"/>
            <a:ext cx="2359152" cy="694944"/>
          </a:xfrm>
          <a:prstGeom prst="rect">
            <a:avLst/>
          </a:prstGeom>
          <a:noFill/>
        </p:spPr>
        <p:txBody>
          <a:bodyPr wrap="square">
            <a:spAutoFit/>
          </a:bodyPr>
          <a:lstStyle/>
          <a:p>
            <a:pPr algn="l"/>
            <a:r>
              <a:rPr sz="950" b="0" i="0">
                <a:solidFill>
                  <a:srgbClr val="E8F4FF"/>
                </a:solidFill>
              </a:rPr>
              <a:t>V_term = V_ocv - I · R_int(T)
Large current sag trips 3.3V false low-voltage</a:t>
            </a:r>
          </a:p>
        </p:txBody>
      </p:sp>
      <p:sp>
        <p:nvSpPr>
          <p:cNvPr id="40" name="Rectangle 39"/>
          <p:cNvSpPr/>
          <p:nvPr/>
        </p:nvSpPr>
        <p:spPr>
          <a:xfrm>
            <a:off x="4937760" y="3703319"/>
            <a:ext cx="100584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992624" y="3758183"/>
            <a:ext cx="896112" cy="694944"/>
          </a:xfrm>
          <a:prstGeom prst="rect">
            <a:avLst/>
          </a:prstGeom>
          <a:noFill/>
        </p:spPr>
        <p:txBody>
          <a:bodyPr wrap="square">
            <a:spAutoFit/>
          </a:bodyPr>
          <a:lstStyle/>
          <a:p>
            <a:pPr algn="ctr"/>
            <a:r>
              <a:rPr sz="950" b="0" i="0">
                <a:solidFill>
                  <a:srgbClr val="E8F4FF"/>
                </a:solidFill>
              </a:rPr>
              <a:t>-6.8 min</a:t>
            </a:r>
          </a:p>
        </p:txBody>
      </p:sp>
      <p:sp>
        <p:nvSpPr>
          <p:cNvPr id="42" name="Rectangle 41"/>
          <p:cNvSpPr/>
          <p:nvPr/>
        </p:nvSpPr>
        <p:spPr>
          <a:xfrm>
            <a:off x="5943600" y="3703319"/>
            <a:ext cx="393192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998464" y="3758183"/>
            <a:ext cx="3822192" cy="694944"/>
          </a:xfrm>
          <a:prstGeom prst="rect">
            <a:avLst/>
          </a:prstGeom>
          <a:noFill/>
        </p:spPr>
        <p:txBody>
          <a:bodyPr wrap="square">
            <a:spAutoFit/>
          </a:bodyPr>
          <a:lstStyle/>
          <a:p>
            <a:pPr algn="l"/>
            <a:r>
              <a:rPr sz="950" b="0" i="0">
                <a:solidFill>
                  <a:srgbClr val="E8F4FF"/>
                </a:solidFill>
              </a:rPr>
              <a:t>GUARD State-of-Power (SoP) dynamic cutoff firmware (prevents premature trip)</a:t>
            </a:r>
          </a:p>
        </p:txBody>
      </p:sp>
      <p:sp>
        <p:nvSpPr>
          <p:cNvPr id="44" name="Rectangle 43"/>
          <p:cNvSpPr/>
          <p:nvPr/>
        </p:nvSpPr>
        <p:spPr>
          <a:xfrm>
            <a:off x="9875520" y="3703319"/>
            <a:ext cx="1828800" cy="804672"/>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30384" y="3758183"/>
            <a:ext cx="1719072" cy="694944"/>
          </a:xfrm>
          <a:prstGeom prst="rect">
            <a:avLst/>
          </a:prstGeom>
          <a:noFill/>
        </p:spPr>
        <p:txBody>
          <a:bodyPr wrap="square">
            <a:spAutoFit/>
          </a:bodyPr>
          <a:lstStyle/>
          <a:p>
            <a:pPr algn="ctr"/>
            <a:r>
              <a:rPr sz="950" b="0" i="0">
                <a:solidFill>
                  <a:srgbClr val="E8F4FF"/>
                </a:solidFill>
              </a:rPr>
              <a:t>+6.0 min</a:t>
            </a:r>
          </a:p>
        </p:txBody>
      </p:sp>
      <p:sp>
        <p:nvSpPr>
          <p:cNvPr id="46" name="Rectangle 45"/>
          <p:cNvSpPr/>
          <p:nvPr/>
        </p:nvSpPr>
        <p:spPr>
          <a:xfrm>
            <a:off x="457200" y="4572000"/>
            <a:ext cx="2011680" cy="804672"/>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2064" y="4626864"/>
            <a:ext cx="1901952" cy="694944"/>
          </a:xfrm>
          <a:prstGeom prst="rect">
            <a:avLst/>
          </a:prstGeom>
          <a:noFill/>
        </p:spPr>
        <p:txBody>
          <a:bodyPr wrap="square">
            <a:spAutoFit/>
          </a:bodyPr>
          <a:lstStyle/>
          <a:p>
            <a:pPr algn="l"/>
            <a:r>
              <a:rPr sz="950" b="1" i="0">
                <a:solidFill>
                  <a:srgbClr val="FF7700"/>
                </a:solidFill>
              </a:rPr>
              <a:t>NET MISSION PERFORMANCE</a:t>
            </a:r>
          </a:p>
        </p:txBody>
      </p:sp>
      <p:sp>
        <p:nvSpPr>
          <p:cNvPr id="48" name="Rectangle 47"/>
          <p:cNvSpPr/>
          <p:nvPr/>
        </p:nvSpPr>
        <p:spPr>
          <a:xfrm>
            <a:off x="2468880" y="4572000"/>
            <a:ext cx="2468880" cy="804672"/>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523744" y="4626864"/>
            <a:ext cx="2359152" cy="694944"/>
          </a:xfrm>
          <a:prstGeom prst="rect">
            <a:avLst/>
          </a:prstGeom>
          <a:noFill/>
        </p:spPr>
        <p:txBody>
          <a:bodyPr wrap="square">
            <a:spAutoFit/>
          </a:bodyPr>
          <a:lstStyle/>
          <a:p>
            <a:pPr algn="l"/>
            <a:r>
              <a:rPr sz="950" b="1" i="0">
                <a:solidFill>
                  <a:srgbClr val="FF7700"/>
                </a:solidFill>
              </a:rPr>
              <a:t>Baseline Sea Level: 60.0 min hover</a:t>
            </a:r>
          </a:p>
        </p:txBody>
      </p:sp>
      <p:sp>
        <p:nvSpPr>
          <p:cNvPr id="50" name="Rectangle 49"/>
          <p:cNvSpPr/>
          <p:nvPr/>
        </p:nvSpPr>
        <p:spPr>
          <a:xfrm>
            <a:off x="4937760" y="4572000"/>
            <a:ext cx="1005840" cy="804672"/>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92624" y="4626864"/>
            <a:ext cx="896112" cy="694944"/>
          </a:xfrm>
          <a:prstGeom prst="rect">
            <a:avLst/>
          </a:prstGeom>
          <a:noFill/>
        </p:spPr>
        <p:txBody>
          <a:bodyPr wrap="square">
            <a:spAutoFit/>
          </a:bodyPr>
          <a:lstStyle/>
          <a:p>
            <a:pPr algn="ctr"/>
            <a:r>
              <a:rPr sz="950" b="1" i="0">
                <a:solidFill>
                  <a:srgbClr val="FF7700"/>
                </a:solidFill>
              </a:rPr>
              <a:t>16.4 min</a:t>
            </a:r>
          </a:p>
        </p:txBody>
      </p:sp>
      <p:sp>
        <p:nvSpPr>
          <p:cNvPr id="52" name="Rectangle 51"/>
          <p:cNvSpPr/>
          <p:nvPr/>
        </p:nvSpPr>
        <p:spPr>
          <a:xfrm>
            <a:off x="5943600" y="4572000"/>
            <a:ext cx="3931920" cy="804672"/>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998464" y="4626864"/>
            <a:ext cx="3822192" cy="694944"/>
          </a:xfrm>
          <a:prstGeom prst="rect">
            <a:avLst/>
          </a:prstGeom>
          <a:noFill/>
        </p:spPr>
        <p:txBody>
          <a:bodyPr wrap="square">
            <a:spAutoFit/>
          </a:bodyPr>
          <a:lstStyle/>
          <a:p>
            <a:pPr algn="l"/>
            <a:r>
              <a:rPr sz="950" b="1" i="0">
                <a:solidFill>
                  <a:srgbClr val="FF7700"/>
                </a:solidFill>
              </a:rPr>
              <a:t>Complete HIMVAJRA Drone Retrofit Kit (Weight: +78g, Cost: ₹11,500)</a:t>
            </a:r>
          </a:p>
        </p:txBody>
      </p:sp>
      <p:sp>
        <p:nvSpPr>
          <p:cNvPr id="54" name="Rectangle 53"/>
          <p:cNvSpPr/>
          <p:nvPr/>
        </p:nvSpPr>
        <p:spPr>
          <a:xfrm>
            <a:off x="9875520" y="4572000"/>
            <a:ext cx="1828800" cy="804672"/>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930384" y="4626864"/>
            <a:ext cx="1719072" cy="694944"/>
          </a:xfrm>
          <a:prstGeom prst="rect">
            <a:avLst/>
          </a:prstGeom>
          <a:noFill/>
        </p:spPr>
        <p:txBody>
          <a:bodyPr wrap="square">
            <a:spAutoFit/>
          </a:bodyPr>
          <a:lstStyle/>
          <a:p>
            <a:pPr algn="ctr"/>
            <a:r>
              <a:rPr sz="950" b="1" i="0">
                <a:solidFill>
                  <a:srgbClr val="FF7700"/>
                </a:solidFill>
              </a:rPr>
              <a:t>42.3 min (+157% restored)</a:t>
            </a:r>
          </a:p>
        </p:txBody>
      </p:sp>
      <p:sp>
        <p:nvSpPr>
          <p:cNvPr id="56" name="Rectangle 55"/>
          <p:cNvSpPr/>
          <p:nvPr/>
        </p:nvSpPr>
        <p:spPr>
          <a:xfrm>
            <a:off x="457200" y="5394960"/>
            <a:ext cx="11247120" cy="1097280"/>
          </a:xfrm>
          <a:prstGeom prst="rect">
            <a:avLst/>
          </a:prstGeom>
          <a:solidFill>
            <a:srgbClr val="051224"/>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080" y="5486400"/>
            <a:ext cx="10881360" cy="274320"/>
          </a:xfrm>
          <a:prstGeom prst="rect">
            <a:avLst/>
          </a:prstGeom>
          <a:noFill/>
        </p:spPr>
        <p:txBody>
          <a:bodyPr wrap="square">
            <a:spAutoFit/>
          </a:bodyPr>
          <a:lstStyle/>
          <a:p>
            <a:pPr algn="l"/>
            <a:r>
              <a:rPr sz="1050" b="1" i="0">
                <a:solidFill>
                  <a:srgbClr val="00E676"/>
                </a:solidFill>
              </a:rPr>
              <a:t>WHY STATE-OF-POWER (SoP) MATTERS MORE THAN STATE-OF-CHARGE (SoC)</a:t>
            </a:r>
          </a:p>
        </p:txBody>
      </p:sp>
      <p:sp>
        <p:nvSpPr>
          <p:cNvPr id="58" name="TextBox 57"/>
          <p:cNvSpPr txBox="1"/>
          <p:nvPr/>
        </p:nvSpPr>
        <p:spPr>
          <a:xfrm>
            <a:off x="640080" y="5760720"/>
            <a:ext cx="10881360" cy="640080"/>
          </a:xfrm>
          <a:prstGeom prst="rect">
            <a:avLst/>
          </a:prstGeom>
          <a:noFill/>
        </p:spPr>
        <p:txBody>
          <a:bodyPr wrap="square">
            <a:spAutoFit/>
          </a:bodyPr>
          <a:lstStyle/>
          <a:p>
            <a:pPr algn="l"/>
            <a:r>
              <a:rPr sz="950" b="0" i="0">
                <a:solidFill>
                  <a:srgbClr val="E8F4FF"/>
                </a:solidFill>
              </a:rPr>
              <a:t>Standard drone flight controllers trigger return-to-home (RTH) based purely on terminal voltage (e.g. 3.3V/cell). In Ladakh, because R_int is 3× higher, current surges during rotor climbs cause terminal voltage to plummet even when 55% electrochemical charge remains! GUARD's SoP cutoff calculates true available power reserve, eliminating false-early cutoffs and safely returning over 6 minutes of operational patrol time.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RADIATION (SEU) &amp; COMMUNICATION ANTI-ICING (EFFECTS 5 &amp; 6)</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7AA5CC"/>
                </a:solidFill>
              </a:rPr>
              <a:t>High-altitude cosmic ray neutron flux and severe antenna icing require dedicated hardware/firmware modifications:</a:t>
            </a:r>
          </a:p>
        </p:txBody>
      </p:sp>
      <p:sp>
        <p:nvSpPr>
          <p:cNvPr id="6" name="Rectangle 5"/>
          <p:cNvSpPr/>
          <p:nvPr/>
        </p:nvSpPr>
        <p:spPr>
          <a:xfrm>
            <a:off x="457200" y="1097280"/>
            <a:ext cx="5394960" cy="5303520"/>
          </a:xfrm>
          <a:prstGeom prst="rect">
            <a:avLst/>
          </a:prstGeom>
          <a:solidFill>
            <a:srgbClr val="0D1525"/>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234440"/>
            <a:ext cx="5029200" cy="365760"/>
          </a:xfrm>
          <a:prstGeom prst="rect">
            <a:avLst/>
          </a:prstGeom>
          <a:noFill/>
        </p:spPr>
        <p:txBody>
          <a:bodyPr wrap="square">
            <a:spAutoFit/>
          </a:bodyPr>
          <a:lstStyle/>
          <a:p>
            <a:pPr algn="l"/>
            <a:r>
              <a:rPr sz="1250" b="1" i="0">
                <a:solidFill>
                  <a:srgbClr val="A855F7"/>
                </a:solidFill>
              </a:rPr>
              <a:t>EFFECT 5: RADIATION &amp; COSMIC SEU HARDENING</a:t>
            </a:r>
          </a:p>
        </p:txBody>
      </p:sp>
      <p:sp>
        <p:nvSpPr>
          <p:cNvPr id="8" name="TextBox 7"/>
          <p:cNvSpPr txBox="1"/>
          <p:nvPr/>
        </p:nvSpPr>
        <p:spPr>
          <a:xfrm>
            <a:off x="640080" y="1645920"/>
            <a:ext cx="5029200" cy="4572000"/>
          </a:xfrm>
          <a:prstGeom prst="rect">
            <a:avLst/>
          </a:prstGeom>
          <a:noFill/>
        </p:spPr>
        <p:txBody>
          <a:bodyPr wrap="square">
            <a:spAutoFit/>
          </a:bodyPr>
          <a:lstStyle/>
          <a:p>
            <a:pPr algn="l"/>
            <a:r>
              <a:rPr sz="950" b="0" i="0">
                <a:solidFill>
                  <a:srgbClr val="E8F4FF"/>
                </a:solidFill>
              </a:rPr>
              <a:t>Physics (JEDEC JESD89A):
• Atmospheric shielding drops from 1033 g/cm² to 550 g/cm² at 5,000m
• Cosmic ray neutron flux increases 6.75× over sea level
• UV Index exceeds 13.5 (Extreme Solar UV Degradation)
Raw Threat to Unhardened Electronics:
• Raw Soft Error Rate: 1,998 FITs (Failures in 10^9 hours) for 16GB RAM
• Mean Time Between Failures (MTBF) drops to just 20.8 days!
• Bit flips corrupt flight control state registers, targeting radar &amp; GPS
HIMVAJRA Specialized Modifications:
1. Hardware SEC-DED (Single Error Correct, Double Error Detect) EDAC on all SRAM/DDR buses
2. Triple Modular Redundancy (TMR) on flight-critical GUARD state registers
3. Periodic Autonomous Memory Scrubbing running every 250 ms in background RTOS task
   → Mitigated MTBF restored to 47,600 years!
4. MIL-I-46058C fluoropolymer + Kapton wrapping for outer harness UV stabilization.</a:t>
            </a:r>
          </a:p>
        </p:txBody>
      </p:sp>
      <p:sp>
        <p:nvSpPr>
          <p:cNvPr id="9" name="Rectangle 8"/>
          <p:cNvSpPr/>
          <p:nvPr/>
        </p:nvSpPr>
        <p:spPr>
          <a:xfrm>
            <a:off x="6309360" y="1097280"/>
            <a:ext cx="5394960" cy="5303520"/>
          </a:xfrm>
          <a:prstGeom prst="rect">
            <a:avLst/>
          </a:prstGeom>
          <a:solidFill>
            <a:srgbClr val="0D1525"/>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234440"/>
            <a:ext cx="5029200" cy="365760"/>
          </a:xfrm>
          <a:prstGeom prst="rect">
            <a:avLst/>
          </a:prstGeom>
          <a:noFill/>
        </p:spPr>
        <p:txBody>
          <a:bodyPr wrap="square">
            <a:spAutoFit/>
          </a:bodyPr>
          <a:lstStyle/>
          <a:p>
            <a:pPr algn="l"/>
            <a:r>
              <a:rPr sz="1250" b="1" i="0">
                <a:solidFill>
                  <a:srgbClr val="00AAFF"/>
                </a:solidFill>
              </a:rPr>
              <a:t>EFFECT 6: ANTENNA ANTI-ICING &amp; RF ADAPTATION</a:t>
            </a:r>
          </a:p>
        </p:txBody>
      </p:sp>
      <p:sp>
        <p:nvSpPr>
          <p:cNvPr id="11" name="TextBox 10"/>
          <p:cNvSpPr txBox="1"/>
          <p:nvPr/>
        </p:nvSpPr>
        <p:spPr>
          <a:xfrm>
            <a:off x="6492240" y="1645920"/>
            <a:ext cx="5029200" cy="4572000"/>
          </a:xfrm>
          <a:prstGeom prst="rect">
            <a:avLst/>
          </a:prstGeom>
          <a:noFill/>
        </p:spPr>
        <p:txBody>
          <a:bodyPr wrap="square">
            <a:spAutoFit/>
          </a:bodyPr>
          <a:lstStyle/>
          <a:p>
            <a:pPr algn="l"/>
            <a:r>
              <a:rPr sz="950" b="0" i="0">
                <a:solidFill>
                  <a:srgbClr val="E8F4FF"/>
                </a:solidFill>
              </a:rPr>
              <a:t>Physics &amp; Operational Failure:
• Freezing mist and rime ice accretions deposit on radomes and feed horns
• Dielectric detuning spikes Antenna VSWR from 1.15:1 up to 4.5:1
• 38% of RF transmit power is reflected back into the Power Amplifier (PA)
• Causes severe thermal overload, PA burnout, and total telemetry loss
HIMVAJRA Specialized Modifications:
1. PTC 4 W/dm² Radome De-icing Collar:
   Self-regulating heating element maintains radome surface above 0°C
   VSWR maintained at 1.32:1; reflected power suppressed to &lt;2%
2. Superhydrophobic Nanocomposite Surface Treatment:
   Contact angle &gt; 155° sheds supercooled water droplets before freezing
3. Dynamic Adaptive Modulation Scaling:
   RF link monitor detects reflection spikes and automatically shifts down
   (64-QAM → 16-QAM → QPSK → DSSS) to maintain lock with +17 dB margin
4. Store-and-Forward Delay-Tolerant Protocol:
   230-day non-volatile telemetry buffer during mountain terrain shadowing.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DRDO SPECIALIZED DESIGN MODIFICATION CATALOG</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7AA5CC"/>
                </a:solidFill>
              </a:rPr>
              <a:t>Feasible, hardware-implementable engineering modifications across 4 key military equipment classes:</a:t>
            </a:r>
          </a:p>
        </p:txBody>
      </p:sp>
      <p:sp>
        <p:nvSpPr>
          <p:cNvPr id="6" name="Rectangle 5"/>
          <p:cNvSpPr/>
          <p:nvPr/>
        </p:nvSpPr>
        <p:spPr>
          <a:xfrm>
            <a:off x="457200" y="1097280"/>
            <a:ext cx="5486400" cy="2468880"/>
          </a:xfrm>
          <a:prstGeom prst="rect">
            <a:avLst/>
          </a:prstGeom>
          <a:solidFill>
            <a:srgbClr val="0D1525"/>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88720"/>
            <a:ext cx="5212080" cy="365760"/>
          </a:xfrm>
          <a:prstGeom prst="rect">
            <a:avLst/>
          </a:prstGeom>
          <a:noFill/>
        </p:spPr>
        <p:txBody>
          <a:bodyPr wrap="square">
            <a:spAutoFit/>
          </a:bodyPr>
          <a:lstStyle/>
          <a:p>
            <a:pPr algn="l"/>
            <a:r>
              <a:rPr sz="1250" b="1" i="0">
                <a:solidFill>
                  <a:srgbClr val="00AAFF"/>
                </a:solidFill>
              </a:rPr>
              <a:t>Class 1: Computers &amp; Servers</a:t>
            </a:r>
          </a:p>
        </p:txBody>
      </p:sp>
      <p:sp>
        <p:nvSpPr>
          <p:cNvPr id="8" name="TextBox 7"/>
          <p:cNvSpPr txBox="1"/>
          <p:nvPr/>
        </p:nvSpPr>
        <p:spPr>
          <a:xfrm>
            <a:off x="594360" y="1600200"/>
            <a:ext cx="5212080" cy="1874519"/>
          </a:xfrm>
          <a:prstGeom prst="rect">
            <a:avLst/>
          </a:prstGeom>
          <a:noFill/>
        </p:spPr>
        <p:txBody>
          <a:bodyPr wrap="square">
            <a:spAutoFit/>
          </a:bodyPr>
          <a:lstStyle/>
          <a:p>
            <a:pPr algn="l"/>
            <a:r>
              <a:rPr sz="950" b="0" i="0">
                <a:solidFill>
                  <a:srgbClr val="E8F4FF"/>
                </a:solidFill>
              </a:rPr>
              <a:t>Target Systems: Mission computers, tactical workstations, edge processors
• Heatsink &amp; Thermal Redesign: Vapor chamber heatpipes with 1.74× oversized fin area to compensate for thin air.
• High-Altitude Fan Control: Static pressure PWM fans with altitude barometric curve overriding sea-level curves.
• Conformal Coating &amp; Paschen Spacing: 50 µm Parylene-C coating (MIL-I-46058C) + PCB creepage increased to 2.8 mm.
• Memory Scrubbing: Hardware SEC-DED EDAC enabled with 250 ms scrub task to eliminate cosmic ray bit-flips.</a:t>
            </a:r>
          </a:p>
        </p:txBody>
      </p:sp>
      <p:sp>
        <p:nvSpPr>
          <p:cNvPr id="9" name="Rectangle 8"/>
          <p:cNvSpPr/>
          <p:nvPr/>
        </p:nvSpPr>
        <p:spPr>
          <a:xfrm>
            <a:off x="6217920" y="1097280"/>
            <a:ext cx="5486400" cy="246888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188720"/>
            <a:ext cx="5212080" cy="365760"/>
          </a:xfrm>
          <a:prstGeom prst="rect">
            <a:avLst/>
          </a:prstGeom>
          <a:noFill/>
        </p:spPr>
        <p:txBody>
          <a:bodyPr wrap="square">
            <a:spAutoFit/>
          </a:bodyPr>
          <a:lstStyle/>
          <a:p>
            <a:pPr algn="l"/>
            <a:r>
              <a:rPr sz="1250" b="1" i="0">
                <a:solidFill>
                  <a:srgbClr val="FF7700"/>
                </a:solidFill>
              </a:rPr>
              <a:t>Class 2: Telecom &amp; Military Radios</a:t>
            </a:r>
          </a:p>
        </p:txBody>
      </p:sp>
      <p:sp>
        <p:nvSpPr>
          <p:cNvPr id="11" name="TextBox 10"/>
          <p:cNvSpPr txBox="1"/>
          <p:nvPr/>
        </p:nvSpPr>
        <p:spPr>
          <a:xfrm>
            <a:off x="6355080" y="1600200"/>
            <a:ext cx="5212080" cy="1874519"/>
          </a:xfrm>
          <a:prstGeom prst="rect">
            <a:avLst/>
          </a:prstGeom>
          <a:noFill/>
        </p:spPr>
        <p:txBody>
          <a:bodyPr wrap="square">
            <a:spAutoFit/>
          </a:bodyPr>
          <a:lstStyle/>
          <a:p>
            <a:pPr algn="l"/>
            <a:r>
              <a:rPr sz="950" b="0" i="0">
                <a:solidFill>
                  <a:srgbClr val="E8F4FF"/>
                </a:solidFill>
              </a:rPr>
              <a:t>Target Systems: SDR manpacks, tactical base stations, radar signal units
• Antenna Radome De-icer: 4 W/dm² PTC heating ring on radome collars prevents rime ice and VSWR reflection spikes.
• Superhydrophobic Coating: Lotus-leaf nanocoating (contact angle &gt;155°) sheds supercooled droplets instantly.
• Adaptive Modulation Backoff: Real-time link margin feedback shifts 64-QAM to robust QPSK/DSSS under attenuation.
• Store-and-Forward Mesh: Delay-tolerant queuing buffers telemetry during mountain terrain shadowing.</a:t>
            </a:r>
          </a:p>
        </p:txBody>
      </p:sp>
      <p:sp>
        <p:nvSpPr>
          <p:cNvPr id="12" name="Rectangle 11"/>
          <p:cNvSpPr/>
          <p:nvPr/>
        </p:nvSpPr>
        <p:spPr>
          <a:xfrm>
            <a:off x="457200" y="3703320"/>
            <a:ext cx="5486400" cy="2468880"/>
          </a:xfrm>
          <a:prstGeom prst="rect">
            <a:avLst/>
          </a:prstGeom>
          <a:solidFill>
            <a:srgbClr val="0D1525"/>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794760"/>
            <a:ext cx="5212080" cy="365760"/>
          </a:xfrm>
          <a:prstGeom prst="rect">
            <a:avLst/>
          </a:prstGeom>
          <a:noFill/>
        </p:spPr>
        <p:txBody>
          <a:bodyPr wrap="square">
            <a:spAutoFit/>
          </a:bodyPr>
          <a:lstStyle/>
          <a:p>
            <a:pPr algn="l"/>
            <a:r>
              <a:rPr sz="1250" b="1" i="0">
                <a:solidFill>
                  <a:srgbClr val="00E676"/>
                </a:solidFill>
              </a:rPr>
              <a:t>Class 3: Power Electronics &amp; Gensets</a:t>
            </a:r>
          </a:p>
        </p:txBody>
      </p:sp>
      <p:sp>
        <p:nvSpPr>
          <p:cNvPr id="14" name="TextBox 13"/>
          <p:cNvSpPr txBox="1"/>
          <p:nvPr/>
        </p:nvSpPr>
        <p:spPr>
          <a:xfrm>
            <a:off x="594360" y="4206240"/>
            <a:ext cx="5212080" cy="1874519"/>
          </a:xfrm>
          <a:prstGeom prst="rect">
            <a:avLst/>
          </a:prstGeom>
          <a:noFill/>
        </p:spPr>
        <p:txBody>
          <a:bodyPr wrap="square">
            <a:spAutoFit/>
          </a:bodyPr>
          <a:lstStyle/>
          <a:p>
            <a:pPr algn="l"/>
            <a:r>
              <a:rPr sz="950" b="0" i="0">
                <a:solidFill>
                  <a:srgbClr val="E8F4FF"/>
                </a:solidFill>
              </a:rPr>
              <a:t>Target Systems: DG sets, inverter units, auxiliary battery charging banks
• Creepage &amp; Arc Clearance: Minimum electrical spacing expanded by 1.74× to prevent Paschen low-pressure flashover.
• Insulated Battery Jackets: Vacuum insulation panels (VIP) + 12V PTC heater blankets keep batteries above +10°C.
• Silicone Gel Potting: High-voltage junctions encapsulated in dielectric silicone gel (dielectric strength &gt;25 kV/mm).
• Cold-Start Pre-heaters: Engine block glow plugs and intake air pre-heaters operating on auxiliary starter battery.</a:t>
            </a:r>
          </a:p>
        </p:txBody>
      </p:sp>
      <p:sp>
        <p:nvSpPr>
          <p:cNvPr id="15" name="Rectangle 14"/>
          <p:cNvSpPr/>
          <p:nvPr/>
        </p:nvSpPr>
        <p:spPr>
          <a:xfrm>
            <a:off x="6217920" y="3703320"/>
            <a:ext cx="5486400" cy="2468880"/>
          </a:xfrm>
          <a:prstGeom prst="rect">
            <a:avLst/>
          </a:prstGeom>
          <a:solidFill>
            <a:srgbClr val="0D1525"/>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794760"/>
            <a:ext cx="5212080" cy="365760"/>
          </a:xfrm>
          <a:prstGeom prst="rect">
            <a:avLst/>
          </a:prstGeom>
          <a:noFill/>
        </p:spPr>
        <p:txBody>
          <a:bodyPr wrap="square">
            <a:spAutoFit/>
          </a:bodyPr>
          <a:lstStyle/>
          <a:p>
            <a:pPr algn="l"/>
            <a:r>
              <a:rPr sz="1250" b="1" i="0">
                <a:solidFill>
                  <a:srgbClr val="A855F7"/>
                </a:solidFill>
              </a:rPr>
              <a:t>Class 4: Unmanned Aerial Vehicles (UAVs)</a:t>
            </a:r>
          </a:p>
        </p:txBody>
      </p:sp>
      <p:sp>
        <p:nvSpPr>
          <p:cNvPr id="17" name="TextBox 16"/>
          <p:cNvSpPr txBox="1"/>
          <p:nvPr/>
        </p:nvSpPr>
        <p:spPr>
          <a:xfrm>
            <a:off x="6355080" y="4206240"/>
            <a:ext cx="5212080" cy="1874519"/>
          </a:xfrm>
          <a:prstGeom prst="rect">
            <a:avLst/>
          </a:prstGeom>
          <a:noFill/>
        </p:spPr>
        <p:txBody>
          <a:bodyPr wrap="square">
            <a:spAutoFit/>
          </a:bodyPr>
          <a:lstStyle/>
          <a:p>
            <a:pPr algn="l"/>
            <a:r>
              <a:rPr sz="950" b="0" i="0">
                <a:solidFill>
                  <a:srgbClr val="E8F4FF"/>
                </a:solidFill>
              </a:rPr>
              <a:t>Target Systems: Tactical quadcopters, fixed-wing LAC surveillance drones
• High-Camber Cold Blades: Carbon-fiber rotors with 14% wider chord to restore 18% lift in 0.52 kg/m³ air.
• Battery Aerogel Wrap: 3 mm nanoporous silica aerogel blanket keeps pack warm in subzero flight winds.
• Dynamic SoP Cutoff: Firmware calculates true electrochemical power reserve, recovering 6+ min false-early cutoff.
• Heated Pitot/Baro Sensor: Integrated 2W heating element prevents ice clogging of airspeed and altimeter tubes.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0E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GUARD — 10 Hz Autonomous Envelope Protection State Machine</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7AA5CC"/>
                </a:solidFill>
              </a:rPr>
              <a:t>Embedded STM32G4 microcontroller executes deterministic envelope protection without human delay:</a:t>
            </a:r>
          </a:p>
        </p:txBody>
      </p:sp>
      <p:sp>
        <p:nvSpPr>
          <p:cNvPr id="6" name="Rectangle 5"/>
          <p:cNvSpPr/>
          <p:nvPr/>
        </p:nvSpPr>
        <p:spPr>
          <a:xfrm>
            <a:off x="365760" y="1097280"/>
            <a:ext cx="2743200" cy="3108960"/>
          </a:xfrm>
          <a:prstGeom prst="rect">
            <a:avLst/>
          </a:prstGeom>
          <a:solidFill>
            <a:srgbClr val="0D1525"/>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75488" y="1234440"/>
            <a:ext cx="2523744" cy="411480"/>
          </a:xfrm>
          <a:prstGeom prst="rect">
            <a:avLst/>
          </a:prstGeom>
          <a:noFill/>
        </p:spPr>
        <p:txBody>
          <a:bodyPr wrap="square">
            <a:spAutoFit/>
          </a:bodyPr>
          <a:lstStyle/>
          <a:p>
            <a:pPr algn="ctr"/>
            <a:r>
              <a:rPr sz="1500" b="1" i="0">
                <a:solidFill>
                  <a:srgbClr val="00E676"/>
                </a:solidFill>
              </a:rPr>
              <a:t>NOMINAL</a:t>
            </a:r>
          </a:p>
        </p:txBody>
      </p:sp>
      <p:sp>
        <p:nvSpPr>
          <p:cNvPr id="8" name="TextBox 7"/>
          <p:cNvSpPr txBox="1"/>
          <p:nvPr/>
        </p:nvSpPr>
        <p:spPr>
          <a:xfrm>
            <a:off x="475488" y="1783080"/>
            <a:ext cx="2523744" cy="2286000"/>
          </a:xfrm>
          <a:prstGeom prst="rect">
            <a:avLst/>
          </a:prstGeom>
          <a:noFill/>
        </p:spPr>
        <p:txBody>
          <a:bodyPr wrap="square">
            <a:spAutoFit/>
          </a:bodyPr>
          <a:lstStyle/>
          <a:p>
            <a:pPr algn="l"/>
            <a:r>
              <a:rPr sz="950" b="0" i="0">
                <a:solidFill>
                  <a:srgbClr val="E8F4FF"/>
                </a:solidFill>
              </a:rPr>
              <a:t>All safety margins &gt; 20%
T_j &lt; 68°C, T_bat &gt; 5°C, P &gt; 60 kPa
Passive background logging
Fan 30%, Load FULL, Heaters OFF</a:t>
            </a:r>
          </a:p>
        </p:txBody>
      </p:sp>
      <p:sp>
        <p:nvSpPr>
          <p:cNvPr id="9" name="TextBox 8"/>
          <p:cNvSpPr txBox="1"/>
          <p:nvPr/>
        </p:nvSpPr>
        <p:spPr>
          <a:xfrm>
            <a:off x="3063240" y="2377440"/>
            <a:ext cx="228600" cy="365760"/>
          </a:xfrm>
          <a:prstGeom prst="rect">
            <a:avLst/>
          </a:prstGeom>
          <a:noFill/>
        </p:spPr>
        <p:txBody>
          <a:bodyPr wrap="square">
            <a:spAutoFit/>
          </a:bodyPr>
          <a:lstStyle/>
          <a:p>
            <a:pPr algn="l"/>
            <a:r>
              <a:rPr sz="1800" b="0" i="0">
                <a:solidFill>
                  <a:srgbClr val="456080"/>
                </a:solidFill>
              </a:rPr>
              <a:t>→</a:t>
            </a:r>
          </a:p>
        </p:txBody>
      </p:sp>
      <p:sp>
        <p:nvSpPr>
          <p:cNvPr id="10" name="Rectangle 9"/>
          <p:cNvSpPr/>
          <p:nvPr/>
        </p:nvSpPr>
        <p:spPr>
          <a:xfrm>
            <a:off x="3246120" y="1097280"/>
            <a:ext cx="2743200" cy="310896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55848" y="1234440"/>
            <a:ext cx="2523744" cy="411480"/>
          </a:xfrm>
          <a:prstGeom prst="rect">
            <a:avLst/>
          </a:prstGeom>
          <a:noFill/>
        </p:spPr>
        <p:txBody>
          <a:bodyPr wrap="square">
            <a:spAutoFit/>
          </a:bodyPr>
          <a:lstStyle/>
          <a:p>
            <a:pPr algn="ctr"/>
            <a:r>
              <a:rPr sz="1500" b="1" i="0">
                <a:solidFill>
                  <a:srgbClr val="FF7700"/>
                </a:solidFill>
              </a:rPr>
              <a:t>DERATED</a:t>
            </a:r>
          </a:p>
        </p:txBody>
      </p:sp>
      <p:sp>
        <p:nvSpPr>
          <p:cNvPr id="12" name="TextBox 11"/>
          <p:cNvSpPr txBox="1"/>
          <p:nvPr/>
        </p:nvSpPr>
        <p:spPr>
          <a:xfrm>
            <a:off x="3355848" y="1783080"/>
            <a:ext cx="2523744" cy="2286000"/>
          </a:xfrm>
          <a:prstGeom prst="rect">
            <a:avLst/>
          </a:prstGeom>
          <a:noFill/>
        </p:spPr>
        <p:txBody>
          <a:bodyPr wrap="square">
            <a:spAutoFit/>
          </a:bodyPr>
          <a:lstStyle/>
          <a:p>
            <a:pPr algn="l"/>
            <a:r>
              <a:rPr sz="950" b="0" i="0">
                <a:solidFill>
                  <a:srgbClr val="E8F4FF"/>
                </a:solidFill>
              </a:rPr>
              <a:t>T_j in 68–80°C window OR
SoP reserve &lt; 20% OR P &lt; 60 kPa
Autonomous fan ramp to 100%
Non-critical loads shed; Notify ops</a:t>
            </a:r>
          </a:p>
        </p:txBody>
      </p:sp>
      <p:sp>
        <p:nvSpPr>
          <p:cNvPr id="13" name="TextBox 12"/>
          <p:cNvSpPr txBox="1"/>
          <p:nvPr/>
        </p:nvSpPr>
        <p:spPr>
          <a:xfrm>
            <a:off x="5943600" y="2377440"/>
            <a:ext cx="228600" cy="365760"/>
          </a:xfrm>
          <a:prstGeom prst="rect">
            <a:avLst/>
          </a:prstGeom>
          <a:noFill/>
        </p:spPr>
        <p:txBody>
          <a:bodyPr wrap="square">
            <a:spAutoFit/>
          </a:bodyPr>
          <a:lstStyle/>
          <a:p>
            <a:pPr algn="l"/>
            <a:r>
              <a:rPr sz="1800" b="0" i="0">
                <a:solidFill>
                  <a:srgbClr val="456080"/>
                </a:solidFill>
              </a:rPr>
              <a:t>→</a:t>
            </a:r>
          </a:p>
        </p:txBody>
      </p:sp>
      <p:sp>
        <p:nvSpPr>
          <p:cNvPr id="14" name="Rectangle 13"/>
          <p:cNvSpPr/>
          <p:nvPr/>
        </p:nvSpPr>
        <p:spPr>
          <a:xfrm>
            <a:off x="6126480" y="1097280"/>
            <a:ext cx="2743200" cy="3108960"/>
          </a:xfrm>
          <a:prstGeom prst="rect">
            <a:avLst/>
          </a:prstGeom>
          <a:solidFill>
            <a:srgbClr val="0D1525"/>
          </a:solidFill>
          <a:ln w="12700">
            <a:solidFill>
              <a:srgbClr val="FF3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36208" y="1234440"/>
            <a:ext cx="2523744" cy="411480"/>
          </a:xfrm>
          <a:prstGeom prst="rect">
            <a:avLst/>
          </a:prstGeom>
          <a:noFill/>
        </p:spPr>
        <p:txBody>
          <a:bodyPr wrap="square">
            <a:spAutoFit/>
          </a:bodyPr>
          <a:lstStyle/>
          <a:p>
            <a:pPr algn="ctr"/>
            <a:r>
              <a:rPr sz="1500" b="1" i="0">
                <a:solidFill>
                  <a:srgbClr val="FF3D3D"/>
                </a:solidFill>
              </a:rPr>
              <a:t>PROTECT</a:t>
            </a:r>
          </a:p>
        </p:txBody>
      </p:sp>
      <p:sp>
        <p:nvSpPr>
          <p:cNvPr id="16" name="TextBox 15"/>
          <p:cNvSpPr txBox="1"/>
          <p:nvPr/>
        </p:nvSpPr>
        <p:spPr>
          <a:xfrm>
            <a:off x="6236208" y="1783080"/>
            <a:ext cx="2523744" cy="2286000"/>
          </a:xfrm>
          <a:prstGeom prst="rect">
            <a:avLst/>
          </a:prstGeom>
          <a:noFill/>
        </p:spPr>
        <p:txBody>
          <a:bodyPr wrap="square">
            <a:spAutoFit/>
          </a:bodyPr>
          <a:lstStyle/>
          <a:p>
            <a:pPr algn="l"/>
            <a:r>
              <a:rPr sz="950" b="0" i="0">
                <a:solidFill>
                  <a:srgbClr val="E8F4FF"/>
                </a:solidFill>
              </a:rPr>
              <a:t>T_j &gt; 80°C OR T_bat &lt; 0°C OR
Dew margin &lt; 2°C
Engage PTC heating pads
Charge INHIBITED to prevent Li-plating</a:t>
            </a:r>
          </a:p>
        </p:txBody>
      </p:sp>
      <p:sp>
        <p:nvSpPr>
          <p:cNvPr id="17" name="TextBox 16"/>
          <p:cNvSpPr txBox="1"/>
          <p:nvPr/>
        </p:nvSpPr>
        <p:spPr>
          <a:xfrm>
            <a:off x="8823960" y="2377440"/>
            <a:ext cx="228600" cy="365760"/>
          </a:xfrm>
          <a:prstGeom prst="rect">
            <a:avLst/>
          </a:prstGeom>
          <a:noFill/>
        </p:spPr>
        <p:txBody>
          <a:bodyPr wrap="square">
            <a:spAutoFit/>
          </a:bodyPr>
          <a:lstStyle/>
          <a:p>
            <a:pPr algn="l"/>
            <a:r>
              <a:rPr sz="1800" b="0" i="0">
                <a:solidFill>
                  <a:srgbClr val="456080"/>
                </a:solidFill>
              </a:rPr>
              <a:t>→</a:t>
            </a:r>
          </a:p>
        </p:txBody>
      </p:sp>
      <p:sp>
        <p:nvSpPr>
          <p:cNvPr id="18" name="Rectangle 17"/>
          <p:cNvSpPr/>
          <p:nvPr/>
        </p:nvSpPr>
        <p:spPr>
          <a:xfrm>
            <a:off x="9006840" y="1097280"/>
            <a:ext cx="2743200" cy="3108960"/>
          </a:xfrm>
          <a:prstGeom prst="rect">
            <a:avLst/>
          </a:prstGeom>
          <a:solidFill>
            <a:srgbClr val="0D1525"/>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16568" y="1234440"/>
            <a:ext cx="2523744" cy="411480"/>
          </a:xfrm>
          <a:prstGeom prst="rect">
            <a:avLst/>
          </a:prstGeom>
          <a:noFill/>
        </p:spPr>
        <p:txBody>
          <a:bodyPr wrap="square">
            <a:spAutoFit/>
          </a:bodyPr>
          <a:lstStyle/>
          <a:p>
            <a:pPr algn="ctr"/>
            <a:r>
              <a:rPr sz="1500" b="1" i="0">
                <a:solidFill>
                  <a:srgbClr val="A855F7"/>
                </a:solidFill>
              </a:rPr>
              <a:t>LOCKOUT</a:t>
            </a:r>
          </a:p>
        </p:txBody>
      </p:sp>
      <p:sp>
        <p:nvSpPr>
          <p:cNvPr id="20" name="TextBox 19"/>
          <p:cNvSpPr txBox="1"/>
          <p:nvPr/>
        </p:nvSpPr>
        <p:spPr>
          <a:xfrm>
            <a:off x="9116568" y="1783080"/>
            <a:ext cx="2523744" cy="2286000"/>
          </a:xfrm>
          <a:prstGeom prst="rect">
            <a:avLst/>
          </a:prstGeom>
          <a:noFill/>
        </p:spPr>
        <p:txBody>
          <a:bodyPr wrap="square">
            <a:spAutoFit/>
          </a:bodyPr>
          <a:lstStyle/>
          <a:p>
            <a:pPr algn="l"/>
            <a:r>
              <a:rPr sz="950" b="0" i="0">
                <a:solidFill>
                  <a:srgbClr val="E8F4FF"/>
                </a:solidFill>
              </a:rPr>
              <a:t>T_j &gt; 85°C hard limit OR
Flashover arc detected OR
Cycle damage &gt; 95%
Power cut to non-safety systems; Ack req.</a:t>
            </a:r>
          </a:p>
        </p:txBody>
      </p:sp>
      <p:sp>
        <p:nvSpPr>
          <p:cNvPr id="21" name="TextBox 20"/>
          <p:cNvSpPr txBox="1"/>
          <p:nvPr/>
        </p:nvSpPr>
        <p:spPr>
          <a:xfrm>
            <a:off x="457200" y="4343400"/>
            <a:ext cx="10972800" cy="320040"/>
          </a:xfrm>
          <a:prstGeom prst="rect">
            <a:avLst/>
          </a:prstGeom>
          <a:noFill/>
        </p:spPr>
        <p:txBody>
          <a:bodyPr wrap="square">
            <a:spAutoFit/>
          </a:bodyPr>
          <a:lstStyle/>
          <a:p>
            <a:pPr algn="l"/>
            <a:r>
              <a:rPr sz="1100" b="1" i="0">
                <a:solidFill>
                  <a:srgbClr val="7AA5CC"/>
                </a:solidFill>
              </a:rPr>
              <a:t>ACTUATOR RESPONSE MATRIX &amp; TELEMETRY PROFILE</a:t>
            </a:r>
          </a:p>
        </p:txBody>
      </p:sp>
      <p:sp>
        <p:nvSpPr>
          <p:cNvPr id="22" name="Rectangle 21"/>
          <p:cNvSpPr/>
          <p:nvPr/>
        </p:nvSpPr>
        <p:spPr>
          <a:xfrm>
            <a:off x="457200" y="4663440"/>
            <a:ext cx="2286000" cy="292608"/>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4681728"/>
            <a:ext cx="2194560" cy="274320"/>
          </a:xfrm>
          <a:prstGeom prst="rect">
            <a:avLst/>
          </a:prstGeom>
          <a:noFill/>
        </p:spPr>
        <p:txBody>
          <a:bodyPr wrap="square">
            <a:spAutoFit/>
          </a:bodyPr>
          <a:lstStyle/>
          <a:p>
            <a:pPr algn="l"/>
            <a:r>
              <a:rPr sz="850" b="1" i="0">
                <a:solidFill>
                  <a:srgbClr val="E8F4FF"/>
                </a:solidFill>
              </a:rPr>
              <a:t>Actuator / Subsystem</a:t>
            </a:r>
          </a:p>
        </p:txBody>
      </p:sp>
      <p:sp>
        <p:nvSpPr>
          <p:cNvPr id="24" name="Rectangle 23"/>
          <p:cNvSpPr/>
          <p:nvPr/>
        </p:nvSpPr>
        <p:spPr>
          <a:xfrm>
            <a:off x="2743200" y="4663440"/>
            <a:ext cx="2240280" cy="292608"/>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88920" y="4681728"/>
            <a:ext cx="2148840" cy="274320"/>
          </a:xfrm>
          <a:prstGeom prst="rect">
            <a:avLst/>
          </a:prstGeom>
          <a:noFill/>
        </p:spPr>
        <p:txBody>
          <a:bodyPr wrap="square">
            <a:spAutoFit/>
          </a:bodyPr>
          <a:lstStyle/>
          <a:p>
            <a:pPr algn="ctr"/>
            <a:r>
              <a:rPr sz="850" b="1" i="0">
                <a:solidFill>
                  <a:srgbClr val="E8F4FF"/>
                </a:solidFill>
              </a:rPr>
              <a:t>NOMINAL State</a:t>
            </a:r>
          </a:p>
        </p:txBody>
      </p:sp>
      <p:sp>
        <p:nvSpPr>
          <p:cNvPr id="26" name="Rectangle 25"/>
          <p:cNvSpPr/>
          <p:nvPr/>
        </p:nvSpPr>
        <p:spPr>
          <a:xfrm>
            <a:off x="4983480" y="4663440"/>
            <a:ext cx="2240280" cy="292608"/>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0" y="4681728"/>
            <a:ext cx="2148840" cy="274320"/>
          </a:xfrm>
          <a:prstGeom prst="rect">
            <a:avLst/>
          </a:prstGeom>
          <a:noFill/>
        </p:spPr>
        <p:txBody>
          <a:bodyPr wrap="square">
            <a:spAutoFit/>
          </a:bodyPr>
          <a:lstStyle/>
          <a:p>
            <a:pPr algn="ctr"/>
            <a:r>
              <a:rPr sz="850" b="1" i="0">
                <a:solidFill>
                  <a:srgbClr val="E8F4FF"/>
                </a:solidFill>
              </a:rPr>
              <a:t>DERATED State</a:t>
            </a:r>
          </a:p>
        </p:txBody>
      </p:sp>
      <p:sp>
        <p:nvSpPr>
          <p:cNvPr id="28" name="Rectangle 27"/>
          <p:cNvSpPr/>
          <p:nvPr/>
        </p:nvSpPr>
        <p:spPr>
          <a:xfrm>
            <a:off x="7223760" y="4663440"/>
            <a:ext cx="2240280" cy="292608"/>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269480" y="4681728"/>
            <a:ext cx="2148840" cy="274320"/>
          </a:xfrm>
          <a:prstGeom prst="rect">
            <a:avLst/>
          </a:prstGeom>
          <a:noFill/>
        </p:spPr>
        <p:txBody>
          <a:bodyPr wrap="square">
            <a:spAutoFit/>
          </a:bodyPr>
          <a:lstStyle/>
          <a:p>
            <a:pPr algn="ctr"/>
            <a:r>
              <a:rPr sz="850" b="1" i="0">
                <a:solidFill>
                  <a:srgbClr val="E8F4FF"/>
                </a:solidFill>
              </a:rPr>
              <a:t>PROTECT State</a:t>
            </a:r>
          </a:p>
        </p:txBody>
      </p:sp>
      <p:sp>
        <p:nvSpPr>
          <p:cNvPr id="30" name="Rectangle 29"/>
          <p:cNvSpPr/>
          <p:nvPr/>
        </p:nvSpPr>
        <p:spPr>
          <a:xfrm>
            <a:off x="9464040" y="4663440"/>
            <a:ext cx="2240280" cy="292608"/>
          </a:xfrm>
          <a:prstGeom prst="rect">
            <a:avLst/>
          </a:prstGeom>
          <a:solidFill>
            <a:srgbClr val="003366"/>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0" y="4681728"/>
            <a:ext cx="2148840" cy="274320"/>
          </a:xfrm>
          <a:prstGeom prst="rect">
            <a:avLst/>
          </a:prstGeom>
          <a:noFill/>
        </p:spPr>
        <p:txBody>
          <a:bodyPr wrap="square">
            <a:spAutoFit/>
          </a:bodyPr>
          <a:lstStyle/>
          <a:p>
            <a:pPr algn="ctr"/>
            <a:r>
              <a:rPr sz="850" b="1" i="0">
                <a:solidFill>
                  <a:srgbClr val="E8F4FF"/>
                </a:solidFill>
              </a:rPr>
              <a:t>LOCKOUT State</a:t>
            </a:r>
          </a:p>
        </p:txBody>
      </p:sp>
      <p:sp>
        <p:nvSpPr>
          <p:cNvPr id="32" name="Rectangle 31"/>
          <p:cNvSpPr/>
          <p:nvPr/>
        </p:nvSpPr>
        <p:spPr>
          <a:xfrm>
            <a:off x="457200" y="4983480"/>
            <a:ext cx="228600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5001768"/>
            <a:ext cx="2194560" cy="274320"/>
          </a:xfrm>
          <a:prstGeom prst="rect">
            <a:avLst/>
          </a:prstGeom>
          <a:noFill/>
        </p:spPr>
        <p:txBody>
          <a:bodyPr wrap="square">
            <a:spAutoFit/>
          </a:bodyPr>
          <a:lstStyle/>
          <a:p>
            <a:pPr algn="l"/>
            <a:r>
              <a:rPr sz="850" b="0" i="0">
                <a:solidFill>
                  <a:srgbClr val="7AA5CC"/>
                </a:solidFill>
              </a:rPr>
              <a:t>Cooling Fan PWM</a:t>
            </a:r>
          </a:p>
        </p:txBody>
      </p:sp>
      <p:sp>
        <p:nvSpPr>
          <p:cNvPr id="34" name="Rectangle 33"/>
          <p:cNvSpPr/>
          <p:nvPr/>
        </p:nvSpPr>
        <p:spPr>
          <a:xfrm>
            <a:off x="2743200" y="498348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788920" y="5001768"/>
            <a:ext cx="2148840" cy="274320"/>
          </a:xfrm>
          <a:prstGeom prst="rect">
            <a:avLst/>
          </a:prstGeom>
          <a:noFill/>
        </p:spPr>
        <p:txBody>
          <a:bodyPr wrap="square">
            <a:spAutoFit/>
          </a:bodyPr>
          <a:lstStyle/>
          <a:p>
            <a:pPr algn="ctr"/>
            <a:r>
              <a:rPr sz="850" b="0" i="0">
                <a:solidFill>
                  <a:srgbClr val="E8F4FF"/>
                </a:solidFill>
              </a:rPr>
              <a:t>30% (Acoustic quiet)</a:t>
            </a:r>
          </a:p>
        </p:txBody>
      </p:sp>
      <p:sp>
        <p:nvSpPr>
          <p:cNvPr id="36" name="Rectangle 35"/>
          <p:cNvSpPr/>
          <p:nvPr/>
        </p:nvSpPr>
        <p:spPr>
          <a:xfrm>
            <a:off x="4983480" y="498348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0" y="5001768"/>
            <a:ext cx="2148840" cy="274320"/>
          </a:xfrm>
          <a:prstGeom prst="rect">
            <a:avLst/>
          </a:prstGeom>
          <a:noFill/>
        </p:spPr>
        <p:txBody>
          <a:bodyPr wrap="square">
            <a:spAutoFit/>
          </a:bodyPr>
          <a:lstStyle/>
          <a:p>
            <a:pPr algn="ctr"/>
            <a:r>
              <a:rPr sz="850" b="0" i="0">
                <a:solidFill>
                  <a:srgbClr val="E8F4FF"/>
                </a:solidFill>
              </a:rPr>
              <a:t>100% (Maximum airflow)</a:t>
            </a:r>
          </a:p>
        </p:txBody>
      </p:sp>
      <p:sp>
        <p:nvSpPr>
          <p:cNvPr id="38" name="Rectangle 37"/>
          <p:cNvSpPr/>
          <p:nvPr/>
        </p:nvSpPr>
        <p:spPr>
          <a:xfrm>
            <a:off x="7223760" y="498348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269480" y="5001768"/>
            <a:ext cx="2148840" cy="274320"/>
          </a:xfrm>
          <a:prstGeom prst="rect">
            <a:avLst/>
          </a:prstGeom>
          <a:noFill/>
        </p:spPr>
        <p:txBody>
          <a:bodyPr wrap="square">
            <a:spAutoFit/>
          </a:bodyPr>
          <a:lstStyle/>
          <a:p>
            <a:pPr algn="ctr"/>
            <a:r>
              <a:rPr sz="850" b="0" i="0">
                <a:solidFill>
                  <a:srgbClr val="E8F4FF"/>
                </a:solidFill>
              </a:rPr>
              <a:t>100% (Emergency cooling)</a:t>
            </a:r>
          </a:p>
        </p:txBody>
      </p:sp>
      <p:sp>
        <p:nvSpPr>
          <p:cNvPr id="40" name="Rectangle 39"/>
          <p:cNvSpPr/>
          <p:nvPr/>
        </p:nvSpPr>
        <p:spPr>
          <a:xfrm>
            <a:off x="9464040" y="498348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509760" y="5001768"/>
            <a:ext cx="2148840" cy="274320"/>
          </a:xfrm>
          <a:prstGeom prst="rect">
            <a:avLst/>
          </a:prstGeom>
          <a:noFill/>
        </p:spPr>
        <p:txBody>
          <a:bodyPr wrap="square">
            <a:spAutoFit/>
          </a:bodyPr>
          <a:lstStyle/>
          <a:p>
            <a:pPr algn="ctr"/>
            <a:r>
              <a:rPr sz="850" b="0" i="0">
                <a:solidFill>
                  <a:srgbClr val="E8F4FF"/>
                </a:solidFill>
              </a:rPr>
              <a:t>100% (Post-cooldown)</a:t>
            </a:r>
          </a:p>
        </p:txBody>
      </p:sp>
      <p:sp>
        <p:nvSpPr>
          <p:cNvPr id="42" name="Rectangle 41"/>
          <p:cNvSpPr/>
          <p:nvPr/>
        </p:nvSpPr>
        <p:spPr>
          <a:xfrm>
            <a:off x="457200" y="5303520"/>
            <a:ext cx="228600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5321808"/>
            <a:ext cx="2194560" cy="274320"/>
          </a:xfrm>
          <a:prstGeom prst="rect">
            <a:avLst/>
          </a:prstGeom>
          <a:noFill/>
        </p:spPr>
        <p:txBody>
          <a:bodyPr wrap="square">
            <a:spAutoFit/>
          </a:bodyPr>
          <a:lstStyle/>
          <a:p>
            <a:pPr algn="l"/>
            <a:r>
              <a:rPr sz="850" b="0" i="0">
                <a:solidFill>
                  <a:srgbClr val="7AA5CC"/>
                </a:solidFill>
              </a:rPr>
              <a:t>PTC Battery Heater</a:t>
            </a:r>
          </a:p>
        </p:txBody>
      </p:sp>
      <p:sp>
        <p:nvSpPr>
          <p:cNvPr id="44" name="Rectangle 43"/>
          <p:cNvSpPr/>
          <p:nvPr/>
        </p:nvSpPr>
        <p:spPr>
          <a:xfrm>
            <a:off x="2743200" y="530352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88920" y="5321808"/>
            <a:ext cx="2148840" cy="274320"/>
          </a:xfrm>
          <a:prstGeom prst="rect">
            <a:avLst/>
          </a:prstGeom>
          <a:noFill/>
        </p:spPr>
        <p:txBody>
          <a:bodyPr wrap="square">
            <a:spAutoFit/>
          </a:bodyPr>
          <a:lstStyle/>
          <a:p>
            <a:pPr algn="ctr"/>
            <a:r>
              <a:rPr sz="850" b="0" i="0">
                <a:solidFill>
                  <a:srgbClr val="E8F4FF"/>
                </a:solidFill>
              </a:rPr>
              <a:t>OFF (Ambient safe)</a:t>
            </a:r>
          </a:p>
        </p:txBody>
      </p:sp>
      <p:sp>
        <p:nvSpPr>
          <p:cNvPr id="46" name="Rectangle 45"/>
          <p:cNvSpPr/>
          <p:nvPr/>
        </p:nvSpPr>
        <p:spPr>
          <a:xfrm>
            <a:off x="4983480" y="530352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0" y="5321808"/>
            <a:ext cx="2148840" cy="274320"/>
          </a:xfrm>
          <a:prstGeom prst="rect">
            <a:avLst/>
          </a:prstGeom>
          <a:noFill/>
        </p:spPr>
        <p:txBody>
          <a:bodyPr wrap="square">
            <a:spAutoFit/>
          </a:bodyPr>
          <a:lstStyle/>
          <a:p>
            <a:pPr algn="ctr"/>
            <a:r>
              <a:rPr sz="850" b="0" i="0">
                <a:solidFill>
                  <a:srgbClr val="E8F4FF"/>
                </a:solidFill>
              </a:rPr>
              <a:t>OFF</a:t>
            </a:r>
          </a:p>
        </p:txBody>
      </p:sp>
      <p:sp>
        <p:nvSpPr>
          <p:cNvPr id="48" name="Rectangle 47"/>
          <p:cNvSpPr/>
          <p:nvPr/>
        </p:nvSpPr>
        <p:spPr>
          <a:xfrm>
            <a:off x="7223760" y="530352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269480" y="5321808"/>
            <a:ext cx="2148840" cy="274320"/>
          </a:xfrm>
          <a:prstGeom prst="rect">
            <a:avLst/>
          </a:prstGeom>
          <a:noFill/>
        </p:spPr>
        <p:txBody>
          <a:bodyPr wrap="square">
            <a:spAutoFit/>
          </a:bodyPr>
          <a:lstStyle/>
          <a:p>
            <a:pPr algn="ctr"/>
            <a:r>
              <a:rPr sz="850" b="0" i="0">
                <a:solidFill>
                  <a:srgbClr val="E8F4FF"/>
                </a:solidFill>
              </a:rPr>
              <a:t>ON (Ramp to +10°C)</a:t>
            </a:r>
          </a:p>
        </p:txBody>
      </p:sp>
      <p:sp>
        <p:nvSpPr>
          <p:cNvPr id="50" name="Rectangle 49"/>
          <p:cNvSpPr/>
          <p:nvPr/>
        </p:nvSpPr>
        <p:spPr>
          <a:xfrm>
            <a:off x="9464040" y="530352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509760" y="5321808"/>
            <a:ext cx="2148840" cy="274320"/>
          </a:xfrm>
          <a:prstGeom prst="rect">
            <a:avLst/>
          </a:prstGeom>
          <a:noFill/>
        </p:spPr>
        <p:txBody>
          <a:bodyPr wrap="square">
            <a:spAutoFit/>
          </a:bodyPr>
          <a:lstStyle/>
          <a:p>
            <a:pPr algn="ctr"/>
            <a:r>
              <a:rPr sz="850" b="0" i="0">
                <a:solidFill>
                  <a:srgbClr val="E8F4FF"/>
                </a:solidFill>
              </a:rPr>
              <a:t>ON (Thermal preservation)</a:t>
            </a:r>
          </a:p>
        </p:txBody>
      </p:sp>
      <p:sp>
        <p:nvSpPr>
          <p:cNvPr id="52" name="Rectangle 51"/>
          <p:cNvSpPr/>
          <p:nvPr/>
        </p:nvSpPr>
        <p:spPr>
          <a:xfrm>
            <a:off x="457200" y="5623559"/>
            <a:ext cx="228600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02920" y="5641847"/>
            <a:ext cx="2194560" cy="274320"/>
          </a:xfrm>
          <a:prstGeom prst="rect">
            <a:avLst/>
          </a:prstGeom>
          <a:noFill/>
        </p:spPr>
        <p:txBody>
          <a:bodyPr wrap="square">
            <a:spAutoFit/>
          </a:bodyPr>
          <a:lstStyle/>
          <a:p>
            <a:pPr algn="l"/>
            <a:r>
              <a:rPr sz="850" b="0" i="0">
                <a:solidFill>
                  <a:srgbClr val="7AA5CC"/>
                </a:solidFill>
              </a:rPr>
              <a:t>Battery Charge Circuit</a:t>
            </a:r>
          </a:p>
        </p:txBody>
      </p:sp>
      <p:sp>
        <p:nvSpPr>
          <p:cNvPr id="54" name="Rectangle 53"/>
          <p:cNvSpPr/>
          <p:nvPr/>
        </p:nvSpPr>
        <p:spPr>
          <a:xfrm>
            <a:off x="2743200" y="5623559"/>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788920" y="5641847"/>
            <a:ext cx="2148840" cy="274320"/>
          </a:xfrm>
          <a:prstGeom prst="rect">
            <a:avLst/>
          </a:prstGeom>
          <a:noFill/>
        </p:spPr>
        <p:txBody>
          <a:bodyPr wrap="square">
            <a:spAutoFit/>
          </a:bodyPr>
          <a:lstStyle/>
          <a:p>
            <a:pPr algn="ctr"/>
            <a:r>
              <a:rPr sz="850" b="0" i="0">
                <a:solidFill>
                  <a:srgbClr val="E8F4FF"/>
                </a:solidFill>
              </a:rPr>
              <a:t>ENABLED (Standard CC/CV)</a:t>
            </a:r>
          </a:p>
        </p:txBody>
      </p:sp>
      <p:sp>
        <p:nvSpPr>
          <p:cNvPr id="56" name="Rectangle 55"/>
          <p:cNvSpPr/>
          <p:nvPr/>
        </p:nvSpPr>
        <p:spPr>
          <a:xfrm>
            <a:off x="4983480" y="5623559"/>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029200" y="5641847"/>
            <a:ext cx="2148840" cy="274320"/>
          </a:xfrm>
          <a:prstGeom prst="rect">
            <a:avLst/>
          </a:prstGeom>
          <a:noFill/>
        </p:spPr>
        <p:txBody>
          <a:bodyPr wrap="square">
            <a:spAutoFit/>
          </a:bodyPr>
          <a:lstStyle/>
          <a:p>
            <a:pPr algn="ctr"/>
            <a:r>
              <a:rPr sz="850" b="0" i="0">
                <a:solidFill>
                  <a:srgbClr val="E8F4FF"/>
                </a:solidFill>
              </a:rPr>
              <a:t>ENABLED</a:t>
            </a:r>
          </a:p>
        </p:txBody>
      </p:sp>
      <p:sp>
        <p:nvSpPr>
          <p:cNvPr id="58" name="Rectangle 57"/>
          <p:cNvSpPr/>
          <p:nvPr/>
        </p:nvSpPr>
        <p:spPr>
          <a:xfrm>
            <a:off x="7223760" y="5623559"/>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269480" y="5641847"/>
            <a:ext cx="2148840" cy="274320"/>
          </a:xfrm>
          <a:prstGeom prst="rect">
            <a:avLst/>
          </a:prstGeom>
          <a:noFill/>
        </p:spPr>
        <p:txBody>
          <a:bodyPr wrap="square">
            <a:spAutoFit/>
          </a:bodyPr>
          <a:lstStyle/>
          <a:p>
            <a:pPr algn="ctr"/>
            <a:r>
              <a:rPr sz="850" b="0" i="0">
                <a:solidFill>
                  <a:srgbClr val="E8F4FF"/>
                </a:solidFill>
              </a:rPr>
              <a:t>INHIBITED (Prevents dendrites)</a:t>
            </a:r>
          </a:p>
        </p:txBody>
      </p:sp>
      <p:sp>
        <p:nvSpPr>
          <p:cNvPr id="60" name="Rectangle 59"/>
          <p:cNvSpPr/>
          <p:nvPr/>
        </p:nvSpPr>
        <p:spPr>
          <a:xfrm>
            <a:off x="9464040" y="5623559"/>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9509760" y="5641847"/>
            <a:ext cx="2148840" cy="274320"/>
          </a:xfrm>
          <a:prstGeom prst="rect">
            <a:avLst/>
          </a:prstGeom>
          <a:noFill/>
        </p:spPr>
        <p:txBody>
          <a:bodyPr wrap="square">
            <a:spAutoFit/>
          </a:bodyPr>
          <a:lstStyle/>
          <a:p>
            <a:pPr algn="ctr"/>
            <a:r>
              <a:rPr sz="850" b="0" i="0">
                <a:solidFill>
                  <a:srgbClr val="E8F4FF"/>
                </a:solidFill>
              </a:rPr>
              <a:t>INHIBITED (Safety lockout)</a:t>
            </a:r>
          </a:p>
        </p:txBody>
      </p:sp>
      <p:sp>
        <p:nvSpPr>
          <p:cNvPr id="62" name="Rectangle 61"/>
          <p:cNvSpPr/>
          <p:nvPr/>
        </p:nvSpPr>
        <p:spPr>
          <a:xfrm>
            <a:off x="457200" y="5943600"/>
            <a:ext cx="228600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02920" y="5961888"/>
            <a:ext cx="2194560" cy="274320"/>
          </a:xfrm>
          <a:prstGeom prst="rect">
            <a:avLst/>
          </a:prstGeom>
          <a:noFill/>
        </p:spPr>
        <p:txBody>
          <a:bodyPr wrap="square">
            <a:spAutoFit/>
          </a:bodyPr>
          <a:lstStyle/>
          <a:p>
            <a:pPr algn="l"/>
            <a:r>
              <a:rPr sz="850" b="0" i="0">
                <a:solidFill>
                  <a:srgbClr val="7AA5CC"/>
                </a:solidFill>
              </a:rPr>
              <a:t>Non-Critical Load Switch</a:t>
            </a:r>
          </a:p>
        </p:txBody>
      </p:sp>
      <p:sp>
        <p:nvSpPr>
          <p:cNvPr id="64" name="Rectangle 63"/>
          <p:cNvSpPr/>
          <p:nvPr/>
        </p:nvSpPr>
        <p:spPr>
          <a:xfrm>
            <a:off x="2743200" y="594360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788920" y="5961888"/>
            <a:ext cx="2148840" cy="274320"/>
          </a:xfrm>
          <a:prstGeom prst="rect">
            <a:avLst/>
          </a:prstGeom>
          <a:noFill/>
        </p:spPr>
        <p:txBody>
          <a:bodyPr wrap="square">
            <a:spAutoFit/>
          </a:bodyPr>
          <a:lstStyle/>
          <a:p>
            <a:pPr algn="ctr"/>
            <a:r>
              <a:rPr sz="850" b="0" i="0">
                <a:solidFill>
                  <a:srgbClr val="E8F4FF"/>
                </a:solidFill>
              </a:rPr>
              <a:t>100% Powered</a:t>
            </a:r>
          </a:p>
        </p:txBody>
      </p:sp>
      <p:sp>
        <p:nvSpPr>
          <p:cNvPr id="66" name="Rectangle 65"/>
          <p:cNvSpPr/>
          <p:nvPr/>
        </p:nvSpPr>
        <p:spPr>
          <a:xfrm>
            <a:off x="4983480" y="594360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029200" y="5961888"/>
            <a:ext cx="2148840" cy="274320"/>
          </a:xfrm>
          <a:prstGeom prst="rect">
            <a:avLst/>
          </a:prstGeom>
          <a:noFill/>
        </p:spPr>
        <p:txBody>
          <a:bodyPr wrap="square">
            <a:spAutoFit/>
          </a:bodyPr>
          <a:lstStyle/>
          <a:p>
            <a:pPr algn="ctr"/>
            <a:r>
              <a:rPr sz="850" b="0" i="0">
                <a:solidFill>
                  <a:srgbClr val="E8F4FF"/>
                </a:solidFill>
              </a:rPr>
              <a:t>SHED (Power derating)</a:t>
            </a:r>
          </a:p>
        </p:txBody>
      </p:sp>
      <p:sp>
        <p:nvSpPr>
          <p:cNvPr id="68" name="Rectangle 67"/>
          <p:cNvSpPr/>
          <p:nvPr/>
        </p:nvSpPr>
        <p:spPr>
          <a:xfrm>
            <a:off x="7223760" y="594360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269480" y="5961888"/>
            <a:ext cx="2148840" cy="274320"/>
          </a:xfrm>
          <a:prstGeom prst="rect">
            <a:avLst/>
          </a:prstGeom>
          <a:noFill/>
        </p:spPr>
        <p:txBody>
          <a:bodyPr wrap="square">
            <a:spAutoFit/>
          </a:bodyPr>
          <a:lstStyle/>
          <a:p>
            <a:pPr algn="ctr"/>
            <a:r>
              <a:rPr sz="850" b="0" i="0">
                <a:solidFill>
                  <a:srgbClr val="E8F4FF"/>
                </a:solidFill>
              </a:rPr>
              <a:t>SHED (Saves reserve)</a:t>
            </a:r>
          </a:p>
        </p:txBody>
      </p:sp>
      <p:sp>
        <p:nvSpPr>
          <p:cNvPr id="70" name="Rectangle 69"/>
          <p:cNvSpPr/>
          <p:nvPr/>
        </p:nvSpPr>
        <p:spPr>
          <a:xfrm>
            <a:off x="9464040" y="594360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9509760" y="5961888"/>
            <a:ext cx="2148840" cy="274320"/>
          </a:xfrm>
          <a:prstGeom prst="rect">
            <a:avLst/>
          </a:prstGeom>
          <a:noFill/>
        </p:spPr>
        <p:txBody>
          <a:bodyPr wrap="square">
            <a:spAutoFit/>
          </a:bodyPr>
          <a:lstStyle/>
          <a:p>
            <a:pPr algn="ctr"/>
            <a:r>
              <a:rPr sz="850" b="0" i="0">
                <a:solidFill>
                  <a:srgbClr val="E8F4FF"/>
                </a:solidFill>
              </a:rPr>
              <a:t>ISOLATED (Cut via MOSFET)</a:t>
            </a:r>
          </a:p>
        </p:txBody>
      </p:sp>
      <p:sp>
        <p:nvSpPr>
          <p:cNvPr id="72" name="Rectangle 71"/>
          <p:cNvSpPr/>
          <p:nvPr/>
        </p:nvSpPr>
        <p:spPr>
          <a:xfrm>
            <a:off x="457200" y="6263640"/>
            <a:ext cx="228600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02920" y="6281928"/>
            <a:ext cx="2194560" cy="274320"/>
          </a:xfrm>
          <a:prstGeom prst="rect">
            <a:avLst/>
          </a:prstGeom>
          <a:noFill/>
        </p:spPr>
        <p:txBody>
          <a:bodyPr wrap="square">
            <a:spAutoFit/>
          </a:bodyPr>
          <a:lstStyle/>
          <a:p>
            <a:pPr algn="l"/>
            <a:r>
              <a:rPr sz="850" b="0" i="0">
                <a:solidFill>
                  <a:srgbClr val="7AA5CC"/>
                </a:solidFill>
              </a:rPr>
              <a:t>Telemetry Logging Rate</a:t>
            </a:r>
          </a:p>
        </p:txBody>
      </p:sp>
      <p:sp>
        <p:nvSpPr>
          <p:cNvPr id="74" name="Rectangle 73"/>
          <p:cNvSpPr/>
          <p:nvPr/>
        </p:nvSpPr>
        <p:spPr>
          <a:xfrm>
            <a:off x="2743200" y="626364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788920" y="6281928"/>
            <a:ext cx="2148840" cy="274320"/>
          </a:xfrm>
          <a:prstGeom prst="rect">
            <a:avLst/>
          </a:prstGeom>
          <a:noFill/>
        </p:spPr>
        <p:txBody>
          <a:bodyPr wrap="square">
            <a:spAutoFit/>
          </a:bodyPr>
          <a:lstStyle/>
          <a:p>
            <a:pPr algn="ctr"/>
            <a:r>
              <a:rPr sz="850" b="0" i="0">
                <a:solidFill>
                  <a:srgbClr val="E8F4FF"/>
                </a:solidFill>
              </a:rPr>
              <a:t>1/60 Hz (Power conserve)</a:t>
            </a:r>
          </a:p>
        </p:txBody>
      </p:sp>
      <p:sp>
        <p:nvSpPr>
          <p:cNvPr id="76" name="Rectangle 75"/>
          <p:cNvSpPr/>
          <p:nvPr/>
        </p:nvSpPr>
        <p:spPr>
          <a:xfrm>
            <a:off x="4983480" y="626364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029200" y="6281928"/>
            <a:ext cx="2148840" cy="274320"/>
          </a:xfrm>
          <a:prstGeom prst="rect">
            <a:avLst/>
          </a:prstGeom>
          <a:noFill/>
        </p:spPr>
        <p:txBody>
          <a:bodyPr wrap="square">
            <a:spAutoFit/>
          </a:bodyPr>
          <a:lstStyle/>
          <a:p>
            <a:pPr algn="ctr"/>
            <a:r>
              <a:rPr sz="850" b="0" i="0">
                <a:solidFill>
                  <a:srgbClr val="E8F4FF"/>
                </a:solidFill>
              </a:rPr>
              <a:t>1 Hz (High frequency)</a:t>
            </a:r>
          </a:p>
        </p:txBody>
      </p:sp>
      <p:sp>
        <p:nvSpPr>
          <p:cNvPr id="78" name="Rectangle 77"/>
          <p:cNvSpPr/>
          <p:nvPr/>
        </p:nvSpPr>
        <p:spPr>
          <a:xfrm>
            <a:off x="7223760" y="626364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269480" y="6281928"/>
            <a:ext cx="2148840" cy="274320"/>
          </a:xfrm>
          <a:prstGeom prst="rect">
            <a:avLst/>
          </a:prstGeom>
          <a:noFill/>
        </p:spPr>
        <p:txBody>
          <a:bodyPr wrap="square">
            <a:spAutoFit/>
          </a:bodyPr>
          <a:lstStyle/>
          <a:p>
            <a:pPr algn="ctr"/>
            <a:r>
              <a:rPr sz="850" b="0" i="0">
                <a:solidFill>
                  <a:srgbClr val="E8F4FF"/>
                </a:solidFill>
              </a:rPr>
              <a:t>1 Hz + Incident snapshot</a:t>
            </a:r>
          </a:p>
        </p:txBody>
      </p:sp>
      <p:sp>
        <p:nvSpPr>
          <p:cNvPr id="80" name="Rectangle 79"/>
          <p:cNvSpPr/>
          <p:nvPr/>
        </p:nvSpPr>
        <p:spPr>
          <a:xfrm>
            <a:off x="9464040" y="6263640"/>
            <a:ext cx="2240280" cy="292608"/>
          </a:xfrm>
          <a:prstGeom prst="rect">
            <a:avLst/>
          </a:prstGeom>
          <a:solidFill>
            <a:srgbClr val="0D1525"/>
          </a:solidFill>
          <a:ln w="12700">
            <a:solidFill>
              <a:srgbClr val="0D15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9509760" y="6281928"/>
            <a:ext cx="2148840" cy="274320"/>
          </a:xfrm>
          <a:prstGeom prst="rect">
            <a:avLst/>
          </a:prstGeom>
          <a:noFill/>
        </p:spPr>
        <p:txBody>
          <a:bodyPr wrap="square">
            <a:spAutoFit/>
          </a:bodyPr>
          <a:lstStyle/>
          <a:p>
            <a:pPr algn="ctr"/>
            <a:r>
              <a:rPr sz="850" b="0" i="0">
                <a:solidFill>
                  <a:srgbClr val="E8F4FF"/>
                </a:solidFill>
              </a:rPr>
              <a:t>Emergency burst + Alert beacon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80C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73152"/>
          </a:xfrm>
          <a:prstGeom prst="rect">
            <a:avLst/>
          </a:prstGeom>
          <a:solidFill>
            <a:srgbClr val="00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82880"/>
            <a:ext cx="10972800" cy="457200"/>
          </a:xfrm>
          <a:prstGeom prst="rect">
            <a:avLst/>
          </a:prstGeom>
          <a:noFill/>
        </p:spPr>
        <p:txBody>
          <a:bodyPr wrap="square">
            <a:spAutoFit/>
          </a:bodyPr>
          <a:lstStyle/>
          <a:p>
            <a:pPr algn="l"/>
            <a:r>
              <a:rPr sz="2000" b="1" i="0">
                <a:solidFill>
                  <a:srgbClr val="E8F4FF"/>
                </a:solidFill>
              </a:rPr>
              <a:t>FEASIBILITY, RETROFIT BUDGET &amp; DRDO IMPLEMENTATION</a:t>
            </a:r>
          </a:p>
        </p:txBody>
      </p:sp>
      <p:sp>
        <p:nvSpPr>
          <p:cNvPr id="5" name="TextBox 4"/>
          <p:cNvSpPr txBox="1"/>
          <p:nvPr/>
        </p:nvSpPr>
        <p:spPr>
          <a:xfrm>
            <a:off x="457200" y="640080"/>
            <a:ext cx="10972800" cy="320040"/>
          </a:xfrm>
          <a:prstGeom prst="rect">
            <a:avLst/>
          </a:prstGeom>
          <a:noFill/>
        </p:spPr>
        <p:txBody>
          <a:bodyPr wrap="square">
            <a:spAutoFit/>
          </a:bodyPr>
          <a:lstStyle/>
          <a:p>
            <a:pPr algn="l"/>
            <a:r>
              <a:rPr sz="1100" b="0" i="1">
                <a:solidFill>
                  <a:srgbClr val="7AA5CC"/>
                </a:solidFill>
              </a:rPr>
              <a:t>Fully implementable with COTS components from Indian suppliers. Zero re-procurement needed:</a:t>
            </a:r>
          </a:p>
        </p:txBody>
      </p:sp>
      <p:sp>
        <p:nvSpPr>
          <p:cNvPr id="6" name="Rectangle 5"/>
          <p:cNvSpPr/>
          <p:nvPr/>
        </p:nvSpPr>
        <p:spPr>
          <a:xfrm>
            <a:off x="457200" y="1051560"/>
            <a:ext cx="5486400" cy="2468880"/>
          </a:xfrm>
          <a:prstGeom prst="rect">
            <a:avLst/>
          </a:prstGeom>
          <a:solidFill>
            <a:srgbClr val="0D1525"/>
          </a:solidFill>
          <a:ln w="12700">
            <a:solidFill>
              <a:srgbClr val="00AA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143000"/>
            <a:ext cx="5212080" cy="365760"/>
          </a:xfrm>
          <a:prstGeom prst="rect">
            <a:avLst/>
          </a:prstGeom>
          <a:noFill/>
        </p:spPr>
        <p:txBody>
          <a:bodyPr wrap="square">
            <a:spAutoFit/>
          </a:bodyPr>
          <a:lstStyle/>
          <a:p>
            <a:pPr algn="l"/>
            <a:r>
              <a:rPr sz="1250" b="1" i="0">
                <a:solidFill>
                  <a:srgbClr val="00AAFF"/>
                </a:solidFill>
              </a:rPr>
              <a:t>⚙️ Technical Feasibility</a:t>
            </a:r>
          </a:p>
        </p:txBody>
      </p:sp>
      <p:sp>
        <p:nvSpPr>
          <p:cNvPr id="8" name="TextBox 7"/>
          <p:cNvSpPr txBox="1"/>
          <p:nvPr/>
        </p:nvSpPr>
        <p:spPr>
          <a:xfrm>
            <a:off x="594360" y="1554480"/>
            <a:ext cx="5212080" cy="1874519"/>
          </a:xfrm>
          <a:prstGeom prst="rect">
            <a:avLst/>
          </a:prstGeom>
          <a:noFill/>
        </p:spPr>
        <p:txBody>
          <a:bodyPr wrap="square">
            <a:spAutoFit/>
          </a:bodyPr>
          <a:lstStyle/>
          <a:p>
            <a:pPr algn="l"/>
            <a:r>
              <a:rPr sz="950" b="0" i="0">
                <a:solidFill>
                  <a:srgbClr val="E8F4FF"/>
                </a:solidFill>
              </a:rPr>
              <a:t>• COTS Sensors: Sensirion SHT40 (dew point), BMP390 (baro), TI INA228 (SoP power)
• Firmware: FreeRTOS on dual-core STM32G474 (MISRA-C compliant state machine)
• Mechanics: Off-the-shelf vacuum chamber + single-stage rotary vane pump (₹14,500)
• Chamber achieves 30 kPa and -35°C with dry ice / Peltier cryo stage in 25 min.</a:t>
            </a:r>
          </a:p>
        </p:txBody>
      </p:sp>
      <p:sp>
        <p:nvSpPr>
          <p:cNvPr id="9" name="Rectangle 8"/>
          <p:cNvSpPr/>
          <p:nvPr/>
        </p:nvSpPr>
        <p:spPr>
          <a:xfrm>
            <a:off x="6217920" y="1051560"/>
            <a:ext cx="5486400" cy="2468880"/>
          </a:xfrm>
          <a:prstGeom prst="rect">
            <a:avLst/>
          </a:prstGeom>
          <a:solidFill>
            <a:srgbClr val="0D1525"/>
          </a:solidFill>
          <a:ln w="12700">
            <a:solidFill>
              <a:srgbClr val="FF7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143000"/>
            <a:ext cx="5212080" cy="365760"/>
          </a:xfrm>
          <a:prstGeom prst="rect">
            <a:avLst/>
          </a:prstGeom>
          <a:noFill/>
        </p:spPr>
        <p:txBody>
          <a:bodyPr wrap="square">
            <a:spAutoFit/>
          </a:bodyPr>
          <a:lstStyle/>
          <a:p>
            <a:pPr algn="l"/>
            <a:r>
              <a:rPr sz="1250" b="1" i="0">
                <a:solidFill>
                  <a:srgbClr val="FF7700"/>
                </a:solidFill>
              </a:rPr>
              <a:t>🏛️ Operational Integration</a:t>
            </a:r>
          </a:p>
        </p:txBody>
      </p:sp>
      <p:sp>
        <p:nvSpPr>
          <p:cNvPr id="11" name="TextBox 10"/>
          <p:cNvSpPr txBox="1"/>
          <p:nvPr/>
        </p:nvSpPr>
        <p:spPr>
          <a:xfrm>
            <a:off x="6355080" y="1554480"/>
            <a:ext cx="5212080" cy="1874519"/>
          </a:xfrm>
          <a:prstGeom prst="rect">
            <a:avLst/>
          </a:prstGeom>
          <a:noFill/>
        </p:spPr>
        <p:txBody>
          <a:bodyPr wrap="square">
            <a:spAutoFit/>
          </a:bodyPr>
          <a:lstStyle/>
          <a:p>
            <a:pPr algn="l"/>
            <a:r>
              <a:rPr sz="950" b="0" i="0">
                <a:solidFill>
                  <a:srgbClr val="E8F4FF"/>
                </a:solidFill>
              </a:rPr>
              <a:t>• Retrofit Architecture: Installs in series with existing battery/DC bus over CAN/RS-485
• Autonomous 24/7 Protection: Requires zero operator intervention during routine patrol
• Human-in-the-Loop Governance: On mission-critical assets, GUARD alarms &amp; derates,
  never abruptly cutting communications power without sign-off from signals NCO.</a:t>
            </a:r>
          </a:p>
        </p:txBody>
      </p:sp>
      <p:sp>
        <p:nvSpPr>
          <p:cNvPr id="12" name="Rectangle 11"/>
          <p:cNvSpPr/>
          <p:nvPr/>
        </p:nvSpPr>
        <p:spPr>
          <a:xfrm>
            <a:off x="457200" y="3657600"/>
            <a:ext cx="5486400" cy="2468880"/>
          </a:xfrm>
          <a:prstGeom prst="rect">
            <a:avLst/>
          </a:prstGeom>
          <a:solidFill>
            <a:srgbClr val="0D1525"/>
          </a:solidFill>
          <a:ln w="12700">
            <a:solidFill>
              <a:srgbClr val="00E67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749040"/>
            <a:ext cx="5212080" cy="365760"/>
          </a:xfrm>
          <a:prstGeom prst="rect">
            <a:avLst/>
          </a:prstGeom>
          <a:noFill/>
        </p:spPr>
        <p:txBody>
          <a:bodyPr wrap="square">
            <a:spAutoFit/>
          </a:bodyPr>
          <a:lstStyle/>
          <a:p>
            <a:pPr algn="l"/>
            <a:r>
              <a:rPr sz="1250" b="1" i="0">
                <a:solidFill>
                  <a:srgbClr val="00E676"/>
                </a:solidFill>
              </a:rPr>
              <a:t>💰 Prototype &amp; Unit Budget</a:t>
            </a:r>
          </a:p>
        </p:txBody>
      </p:sp>
      <p:sp>
        <p:nvSpPr>
          <p:cNvPr id="14" name="TextBox 13"/>
          <p:cNvSpPr txBox="1"/>
          <p:nvPr/>
        </p:nvSpPr>
        <p:spPr>
          <a:xfrm>
            <a:off x="594360" y="4160520"/>
            <a:ext cx="5212080" cy="1874519"/>
          </a:xfrm>
          <a:prstGeom prst="rect">
            <a:avLst/>
          </a:prstGeom>
          <a:noFill/>
        </p:spPr>
        <p:txBody>
          <a:bodyPr wrap="square">
            <a:spAutoFit/>
          </a:bodyPr>
          <a:lstStyle/>
          <a:p>
            <a:pPr algn="l"/>
            <a:r>
              <a:rPr sz="950" b="0" i="0">
                <a:solidFill>
                  <a:srgbClr val="E8F4FF"/>
                </a:solidFill>
              </a:rPr>
              <a:t>• Chamber Validation Rig: ₹38,000 (Vessel, vacuum pump, cryo jacket, TC DAQ)
• GUARD Controller Prototype: ₹12,000 (STM32G4, MOSFETs, relays, PTC heaters)
• Complete Lab Rig: ₹68,000 (Under SIH hardware development ceiling)
• Production Drone Retrofit Kit: ₹11,500/drone (Blades, aerogel wrap, SoP firmware)
• One prevented UAV crash or radar outage saves &gt; ₹25–80 Lakhs.</a:t>
            </a:r>
          </a:p>
        </p:txBody>
      </p:sp>
      <p:sp>
        <p:nvSpPr>
          <p:cNvPr id="15" name="Rectangle 14"/>
          <p:cNvSpPr/>
          <p:nvPr/>
        </p:nvSpPr>
        <p:spPr>
          <a:xfrm>
            <a:off x="6217920" y="3657600"/>
            <a:ext cx="5486400" cy="2468880"/>
          </a:xfrm>
          <a:prstGeom prst="rect">
            <a:avLst/>
          </a:prstGeom>
          <a:solidFill>
            <a:srgbClr val="0D1525"/>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3749040"/>
            <a:ext cx="5212080" cy="365760"/>
          </a:xfrm>
          <a:prstGeom prst="rect">
            <a:avLst/>
          </a:prstGeom>
          <a:noFill/>
        </p:spPr>
        <p:txBody>
          <a:bodyPr wrap="square">
            <a:spAutoFit/>
          </a:bodyPr>
          <a:lstStyle/>
          <a:p>
            <a:pPr algn="l"/>
            <a:r>
              <a:rPr sz="1250" b="1" i="0">
                <a:solidFill>
                  <a:srgbClr val="A855F7"/>
                </a:solidFill>
              </a:rPr>
              <a:t>🚀 Deployment Roadmap</a:t>
            </a:r>
          </a:p>
        </p:txBody>
      </p:sp>
      <p:sp>
        <p:nvSpPr>
          <p:cNvPr id="17" name="TextBox 16"/>
          <p:cNvSpPr txBox="1"/>
          <p:nvPr/>
        </p:nvSpPr>
        <p:spPr>
          <a:xfrm>
            <a:off x="6355080" y="4160520"/>
            <a:ext cx="5212080" cy="1874519"/>
          </a:xfrm>
          <a:prstGeom prst="rect">
            <a:avLst/>
          </a:prstGeom>
          <a:noFill/>
        </p:spPr>
        <p:txBody>
          <a:bodyPr wrap="square">
            <a:spAutoFit/>
          </a:bodyPr>
          <a:lstStyle/>
          <a:p>
            <a:pPr algn="l"/>
            <a:r>
              <a:rPr sz="950" b="0" i="0">
                <a:solidFill>
                  <a:srgbClr val="E8F4FF"/>
                </a:solidFill>
              </a:rPr>
              <a:t>• Phase 1 (Weeks 1–3): Hypobaric-cryo chamber commissioning + thermal benchmark
• Phase 2 (Weeks 4–6): Drone retrofit validation (rotor thrust + battery pre-heat)
• Phase 3 (Weeks 7–9): Pilot field trial at Leh Army signals workshop (14 Corps)
• Phase 4 (Weeks 10+): Scale-up across forward posts (Daulat Beg Oldi, Siachen base).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